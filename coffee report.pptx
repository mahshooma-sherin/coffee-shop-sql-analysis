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7" r:id="rId2"/>
    <p:sldId id="259" r:id="rId3"/>
    <p:sldId id="260" r:id="rId4"/>
    <p:sldId id="266" r:id="rId5"/>
    <p:sldId id="262" r:id="rId6"/>
    <p:sldId id="263" r:id="rId7"/>
    <p:sldId id="267"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7" d="100"/>
          <a:sy n="57" d="100"/>
        </p:scale>
        <p:origin x="292"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2A1D17"/>
                </a:solidFill>
                <a:latin typeface="Arial"/>
              </a:defRPr>
            </a:pPr>
            <a:r>
              <a:rPr lang="en-GB" sz="1200" b="0" i="0" u="none" strike="noStrike">
                <a:solidFill>
                  <a:srgbClr val="2A1D17"/>
                </a:solidFill>
                <a:latin typeface="Arial"/>
              </a:rPr>
              <a:t>Total Revenue — Top 5 Cities</a:t>
            </a:r>
          </a:p>
        </c:rich>
      </c:tx>
      <c:overlay val="0"/>
    </c:title>
    <c:autoTitleDeleted val="0"/>
    <c:plotArea>
      <c:layout/>
      <c:barChart>
        <c:barDir val="bar"/>
        <c:grouping val="clustered"/>
        <c:varyColors val="0"/>
        <c:ser>
          <c:idx val="0"/>
          <c:order val="0"/>
          <c:tx>
            <c:strRef>
              <c:f>Sheet1!$B$1</c:f>
              <c:strCache>
                <c:ptCount val="1"/>
                <c:pt idx="0">
                  <c:v>Revenue (₹)</c:v>
                </c:pt>
              </c:strCache>
            </c:strRef>
          </c:tx>
          <c:spPr>
            <a:solidFill>
              <a:srgbClr val="C08552"/>
            </a:solidFill>
            <a:effectLst/>
          </c:spPr>
          <c:invertIfNegative val="0"/>
          <c:dLbls>
            <c:numFmt formatCode="#,##0" sourceLinked="0"/>
            <c:spPr>
              <a:noFill/>
              <a:ln>
                <a:noFill/>
              </a:ln>
              <a:effectLst/>
            </c:spPr>
            <c:txPr>
              <a:bodyPr/>
              <a:lstStyle/>
              <a:p>
                <a:pPr>
                  <a:defRPr sz="950" b="0" i="0" u="none" strike="noStrike">
                    <a:solidFill>
                      <a:srgbClr val="2A1D1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Pune</c:v>
                </c:pt>
                <c:pt idx="1">
                  <c:v>Chennai</c:v>
                </c:pt>
                <c:pt idx="2">
                  <c:v>Bangalore</c:v>
                </c:pt>
                <c:pt idx="3">
                  <c:v>Jaipur</c:v>
                </c:pt>
                <c:pt idx="4">
                  <c:v>Delhi</c:v>
                </c:pt>
              </c:strCache>
            </c:strRef>
          </c:cat>
          <c:val>
            <c:numRef>
              <c:f>Sheet1!$B$2:$B$6</c:f>
              <c:numCache>
                <c:formatCode>General</c:formatCode>
                <c:ptCount val="5"/>
                <c:pt idx="0">
                  <c:v>1258290</c:v>
                </c:pt>
                <c:pt idx="1">
                  <c:v>944120</c:v>
                </c:pt>
                <c:pt idx="2">
                  <c:v>860110</c:v>
                </c:pt>
                <c:pt idx="3">
                  <c:v>803450</c:v>
                </c:pt>
                <c:pt idx="4">
                  <c:v>750420</c:v>
                </c:pt>
              </c:numCache>
            </c:numRef>
          </c:val>
          <c:extLst>
            <c:ext xmlns:c16="http://schemas.microsoft.com/office/drawing/2014/chart" uri="{C3380CC4-5D6E-409C-BE32-E72D297353CC}">
              <c16:uniqueId val="{00000000-B4F2-42E4-9CD2-380C62AE7D20}"/>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A1D1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4D5C3"/>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8A7B6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B3E0DF-A65F-4CE4-9FA5-06A519655856}" type="datetimeFigureOut">
              <a:rPr lang="en-GB" smtClean="0"/>
              <a:t>20/07/2026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C0FFF3-5AD4-4FA8-98EF-A5C051260C40}" type="slidenum">
              <a:rPr lang="en-GB" smtClean="0"/>
              <a:t>‹#›</a:t>
            </a:fld>
            <a:endParaRPr lang="en-GB"/>
          </a:p>
        </p:txBody>
      </p:sp>
    </p:spTree>
    <p:extLst>
      <p:ext uri="{BB962C8B-B14F-4D97-AF65-F5344CB8AC3E}">
        <p14:creationId xmlns:p14="http://schemas.microsoft.com/office/powerpoint/2010/main" val="3482405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760921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8010159"/>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C2A21"/>
        </a:solidFill>
        <a:effectLst/>
      </p:bgPr>
    </p:bg>
    <p:spTree>
      <p:nvGrpSpPr>
        <p:cNvPr id="1" name=""/>
        <p:cNvGrpSpPr/>
        <p:nvPr/>
      </p:nvGrpSpPr>
      <p:grpSpPr>
        <a:xfrm>
          <a:off x="0" y="0"/>
          <a:ext cx="0" cy="0"/>
          <a:chOff x="0" y="0"/>
          <a:chExt cx="0" cy="0"/>
        </a:xfrm>
      </p:grpSpPr>
      <p:sp>
        <p:nvSpPr>
          <p:cNvPr id="2" name="Shape 0"/>
          <p:cNvSpPr/>
          <p:nvPr/>
        </p:nvSpPr>
        <p:spPr>
          <a:xfrm>
            <a:off x="9692640" y="-1097280"/>
            <a:ext cx="3840480" cy="3840480"/>
          </a:xfrm>
          <a:prstGeom prst="ellipse">
            <a:avLst/>
          </a:prstGeom>
          <a:solidFill>
            <a:srgbClr val="6F4E37">
              <a:alpha val="45000"/>
            </a:srgbClr>
          </a:solidFill>
          <a:ln/>
        </p:spPr>
        <p:txBody>
          <a:bodyPr/>
          <a:lstStyle/>
          <a:p>
            <a:endParaRPr lang="en-GB"/>
          </a:p>
        </p:txBody>
      </p:sp>
      <p:sp>
        <p:nvSpPr>
          <p:cNvPr id="3" name="Shape 1"/>
          <p:cNvSpPr/>
          <p:nvPr/>
        </p:nvSpPr>
        <p:spPr>
          <a:xfrm>
            <a:off x="10607040" y="4206240"/>
            <a:ext cx="2926080" cy="2926080"/>
          </a:xfrm>
          <a:prstGeom prst="ellipse">
            <a:avLst/>
          </a:prstGeom>
          <a:solidFill>
            <a:srgbClr val="C08552">
              <a:alpha val="30000"/>
            </a:srgbClr>
          </a:solidFill>
          <a:ln/>
        </p:spPr>
        <p:txBody>
          <a:bodyPr/>
          <a:lstStyle/>
          <a:p>
            <a:endParaRPr lang="en-GB"/>
          </a:p>
        </p:txBody>
      </p:sp>
      <p:sp>
        <p:nvSpPr>
          <p:cNvPr id="4" name="Text 2"/>
          <p:cNvSpPr/>
          <p:nvPr/>
        </p:nvSpPr>
        <p:spPr>
          <a:xfrm>
            <a:off x="822960" y="1554480"/>
            <a:ext cx="82296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300" normalizeH="0" baseline="0" noProof="0" dirty="0">
                <a:ln>
                  <a:noFill/>
                </a:ln>
                <a:solidFill>
                  <a:srgbClr val="C08552"/>
                </a:solidFill>
                <a:effectLst/>
                <a:uLnTx/>
                <a:uFillTx/>
                <a:latin typeface="Calibri" pitchFamily="34" charset="0"/>
                <a:ea typeface="Calibri" pitchFamily="34" charset="-122"/>
                <a:cs typeface="Calibri" pitchFamily="34" charset="-120"/>
              </a:rPr>
              <a:t>DATA ANALYSIS REPORT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22960" y="1965960"/>
            <a:ext cx="9875520" cy="11887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Coffee Shop Sales Performance</a:t>
            </a:r>
            <a:endParaRPr kumimoji="0" lang="en-US" sz="4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822960" y="3063240"/>
            <a:ext cx="8686800" cy="822960"/>
          </a:xfrm>
          <a:prstGeom prst="rect">
            <a:avLst/>
          </a:prstGeom>
          <a:noFill/>
          <a:ln/>
        </p:spPr>
        <p:txBody>
          <a:bodyPr wrap="square" rtlCol="0" anchor="ct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D8C9B8"/>
                </a:solidFill>
                <a:effectLst/>
                <a:uLnTx/>
                <a:uFillTx/>
                <a:latin typeface="Calibri" pitchFamily="34" charset="0"/>
                <a:ea typeface="Calibri" pitchFamily="34" charset="-122"/>
                <a:cs typeface="Calibri" pitchFamily="34" charset="-120"/>
              </a:rPr>
              <a:t>An analysis of city, customer, product and sales data using PostgreSQL,</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D8C9B8"/>
                </a:solidFill>
                <a:effectLst/>
                <a:uLnTx/>
                <a:uFillTx/>
                <a:latin typeface="Calibri" pitchFamily="34" charset="0"/>
                <a:ea typeface="Calibri" pitchFamily="34" charset="-122"/>
                <a:cs typeface="Calibri" pitchFamily="34" charset="-120"/>
              </a:rPr>
              <a:t>with recommendations to grow revenue and customer satisfaction.</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822960" y="4069080"/>
            <a:ext cx="1828800" cy="0"/>
          </a:xfrm>
          <a:prstGeom prst="line">
            <a:avLst/>
          </a:prstGeom>
          <a:noFill/>
          <a:ln w="25400">
            <a:solidFill>
              <a:srgbClr val="C08552"/>
            </a:solidFill>
            <a:prstDash val="solid"/>
          </a:ln>
        </p:spPr>
        <p:txBody>
          <a:bodyPr/>
          <a:lstStyle/>
          <a:p>
            <a:endParaRPr lang="en-GB"/>
          </a:p>
        </p:txBody>
      </p:sp>
      <p:sp>
        <p:nvSpPr>
          <p:cNvPr id="8" name="Text 6"/>
          <p:cNvSpPr/>
          <p:nvPr/>
        </p:nvSpPr>
        <p:spPr>
          <a:xfrm>
            <a:off x="822960" y="4251960"/>
            <a:ext cx="73152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8C9B8"/>
                </a:solidFill>
                <a:effectLst/>
                <a:uLnTx/>
                <a:uFillTx/>
                <a:latin typeface="Calibri" pitchFamily="34" charset="0"/>
                <a:ea typeface="Calibri" pitchFamily="34" charset="-122"/>
                <a:cs typeface="Calibri" pitchFamily="34" charset="-120"/>
              </a:rPr>
              <a:t>Prepared by: Mahshooma  |  Data Analyst Trainee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822960" y="4572000"/>
            <a:ext cx="73152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8C9B8"/>
                </a:solidFill>
                <a:effectLst/>
                <a:uLnTx/>
                <a:uFillTx/>
                <a:latin typeface="Calibri" pitchFamily="34" charset="0"/>
                <a:ea typeface="Calibri" pitchFamily="34" charset="-122"/>
                <a:cs typeface="Calibri" pitchFamily="34" charset="-120"/>
              </a:rPr>
              <a:t>Analysis period: Jan 2023 – Oct 2024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2A1D17"/>
                </a:solidFill>
                <a:latin typeface="Cambria" pitchFamily="34" charset="0"/>
                <a:ea typeface="Cambria" pitchFamily="34" charset="-122"/>
                <a:cs typeface="Cambria" pitchFamily="34" charset="-120"/>
              </a:rPr>
              <a:t>Objective</a:t>
            </a:r>
            <a:endParaRPr lang="en-US" sz="3000" dirty="0"/>
          </a:p>
        </p:txBody>
      </p:sp>
      <p:sp>
        <p:nvSpPr>
          <p:cNvPr id="3" name="Shape 1"/>
          <p:cNvSpPr/>
          <p:nvPr/>
        </p:nvSpPr>
        <p:spPr>
          <a:xfrm>
            <a:off x="548640" y="1737360"/>
            <a:ext cx="11064240" cy="1828800"/>
          </a:xfrm>
          <a:prstGeom prst="roundRect">
            <a:avLst>
              <a:gd name="adj" fmla="val 4000"/>
            </a:avLst>
          </a:prstGeom>
          <a:solidFill>
            <a:srgbClr val="FFFFFF"/>
          </a:solidFill>
          <a:ln w="12700">
            <a:solidFill>
              <a:srgbClr val="E4D5C3"/>
            </a:solidFill>
            <a:prstDash val="solid"/>
          </a:ln>
          <a:effectLst>
            <a:outerShdw blurRad="76200" dist="25400" dir="5400000" algn="bl" rotWithShape="0">
              <a:srgbClr val="3C2A21">
                <a:alpha val="10000"/>
              </a:srgbClr>
            </a:outerShdw>
          </a:effectLst>
        </p:spPr>
        <p:txBody>
          <a:bodyPr/>
          <a:lstStyle/>
          <a:p>
            <a:endParaRPr lang="en-GB"/>
          </a:p>
        </p:txBody>
      </p:sp>
      <p:sp>
        <p:nvSpPr>
          <p:cNvPr id="4" name="Text 2"/>
          <p:cNvSpPr/>
          <p:nvPr/>
        </p:nvSpPr>
        <p:spPr>
          <a:xfrm>
            <a:off x="868680" y="1965960"/>
            <a:ext cx="10424160" cy="548640"/>
          </a:xfrm>
          <a:prstGeom prst="rect">
            <a:avLst/>
          </a:prstGeom>
          <a:noFill/>
          <a:ln/>
        </p:spPr>
        <p:txBody>
          <a:bodyPr wrap="square" rtlCol="0" anchor="ctr"/>
          <a:lstStyle/>
          <a:p>
            <a:pPr marL="0" indent="0">
              <a:buNone/>
            </a:pPr>
            <a:r>
              <a:rPr lang="en-US" sz="1700" b="1" dirty="0">
                <a:solidFill>
                  <a:srgbClr val="2A1D17"/>
                </a:solidFill>
                <a:latin typeface="Cambria" pitchFamily="34" charset="0"/>
                <a:ea typeface="Cambria" pitchFamily="34" charset="-122"/>
                <a:cs typeface="Cambria" pitchFamily="34" charset="-120"/>
              </a:rPr>
              <a:t>Identify the top three cities for opening new coffee shops, based on historical online sales data.</a:t>
            </a:r>
            <a:endParaRPr lang="en-US" sz="1700" dirty="0"/>
          </a:p>
        </p:txBody>
      </p:sp>
      <p:sp>
        <p:nvSpPr>
          <p:cNvPr id="5" name="Text 3"/>
          <p:cNvSpPr/>
          <p:nvPr/>
        </p:nvSpPr>
        <p:spPr>
          <a:xfrm>
            <a:off x="868680" y="2514600"/>
            <a:ext cx="10424160" cy="914400"/>
          </a:xfrm>
          <a:prstGeom prst="rect">
            <a:avLst/>
          </a:prstGeom>
          <a:noFill/>
          <a:ln/>
        </p:spPr>
        <p:txBody>
          <a:bodyPr wrap="square" rtlCol="0" anchor="ctr"/>
          <a:lstStyle/>
          <a:p>
            <a:pPr marL="0" indent="0">
              <a:lnSpc>
                <a:spcPts val="1600"/>
              </a:lnSpc>
              <a:buNone/>
            </a:pPr>
            <a:r>
              <a:rPr lang="en-US" sz="1250" dirty="0">
                <a:solidFill>
                  <a:srgbClr val="8A7B6C"/>
                </a:solidFill>
                <a:latin typeface="Calibri" pitchFamily="34" charset="0"/>
                <a:ea typeface="Calibri" pitchFamily="34" charset="-122"/>
                <a:cs typeface="Calibri" pitchFamily="34" charset="-120"/>
              </a:rPr>
              <a:t>Since the company's launch in January 2023, it has experienced strong online sales and positive customer feedback across multiple cities. This report evaluates market performance city by city and provides recommendations to support the company's physical expansion strategy.</a:t>
            </a:r>
            <a:endParaRPr lang="en-US" sz="1250" dirty="0"/>
          </a:p>
        </p:txBody>
      </p:sp>
      <p:sp>
        <p:nvSpPr>
          <p:cNvPr id="6" name="Shape 4"/>
          <p:cNvSpPr/>
          <p:nvPr/>
        </p:nvSpPr>
        <p:spPr>
          <a:xfrm>
            <a:off x="548640" y="3931920"/>
            <a:ext cx="3429000" cy="1463040"/>
          </a:xfrm>
          <a:prstGeom prst="roundRect">
            <a:avLst>
              <a:gd name="adj" fmla="val 5000"/>
            </a:avLst>
          </a:prstGeom>
          <a:solidFill>
            <a:srgbClr val="3C2A21"/>
          </a:solidFill>
          <a:ln/>
        </p:spPr>
        <p:txBody>
          <a:bodyPr/>
          <a:lstStyle/>
          <a:p>
            <a:endParaRPr lang="en-GB"/>
          </a:p>
        </p:txBody>
      </p:sp>
      <p:sp>
        <p:nvSpPr>
          <p:cNvPr id="7" name="Text 5"/>
          <p:cNvSpPr/>
          <p:nvPr/>
        </p:nvSpPr>
        <p:spPr>
          <a:xfrm>
            <a:off x="777240" y="4096512"/>
            <a:ext cx="2971800" cy="640080"/>
          </a:xfrm>
          <a:prstGeom prst="rect">
            <a:avLst/>
          </a:prstGeom>
          <a:noFill/>
          <a:ln/>
        </p:spPr>
        <p:txBody>
          <a:bodyPr wrap="square" rtlCol="0" anchor="ctr"/>
          <a:lstStyle/>
          <a:p>
            <a:pPr marL="0" indent="0">
              <a:buNone/>
            </a:pPr>
            <a:r>
              <a:rPr lang="en-US" sz="3000" b="1" dirty="0">
                <a:solidFill>
                  <a:srgbClr val="C08552"/>
                </a:solidFill>
                <a:latin typeface="Cambria" pitchFamily="34" charset="0"/>
                <a:ea typeface="Cambria" pitchFamily="34" charset="-122"/>
                <a:cs typeface="Cambria" pitchFamily="34" charset="-120"/>
              </a:rPr>
              <a:t>18</a:t>
            </a:r>
            <a:endParaRPr lang="en-US" sz="3000" dirty="0"/>
          </a:p>
        </p:txBody>
      </p:sp>
      <p:sp>
        <p:nvSpPr>
          <p:cNvPr id="8" name="Text 6"/>
          <p:cNvSpPr/>
          <p:nvPr/>
        </p:nvSpPr>
        <p:spPr>
          <a:xfrm>
            <a:off x="777240" y="4773168"/>
            <a:ext cx="2971800" cy="502920"/>
          </a:xfrm>
          <a:prstGeom prst="rect">
            <a:avLst/>
          </a:prstGeom>
          <a:noFill/>
          <a:ln/>
        </p:spPr>
        <p:txBody>
          <a:bodyPr wrap="square" rtlCol="0" anchor="ctr"/>
          <a:lstStyle/>
          <a:p>
            <a:pPr marL="0" indent="0">
              <a:buNone/>
            </a:pPr>
            <a:r>
              <a:rPr lang="en-US" sz="1100" dirty="0">
                <a:solidFill>
                  <a:srgbClr val="EDE0D3"/>
                </a:solidFill>
                <a:latin typeface="Calibri" pitchFamily="34" charset="0"/>
                <a:ea typeface="Calibri" pitchFamily="34" charset="-122"/>
                <a:cs typeface="Calibri" pitchFamily="34" charset="-120"/>
              </a:rPr>
              <a:t>months of online sales history</a:t>
            </a:r>
            <a:endParaRPr lang="en-US" sz="1100" dirty="0"/>
          </a:p>
        </p:txBody>
      </p:sp>
      <p:sp>
        <p:nvSpPr>
          <p:cNvPr id="9" name="Shape 7"/>
          <p:cNvSpPr/>
          <p:nvPr/>
        </p:nvSpPr>
        <p:spPr>
          <a:xfrm>
            <a:off x="4343400" y="3931920"/>
            <a:ext cx="3429000" cy="1463040"/>
          </a:xfrm>
          <a:prstGeom prst="roundRect">
            <a:avLst>
              <a:gd name="adj" fmla="val 5000"/>
            </a:avLst>
          </a:prstGeom>
          <a:solidFill>
            <a:srgbClr val="3C2A21"/>
          </a:solidFill>
          <a:ln/>
        </p:spPr>
        <p:txBody>
          <a:bodyPr/>
          <a:lstStyle/>
          <a:p>
            <a:endParaRPr lang="en-GB"/>
          </a:p>
        </p:txBody>
      </p:sp>
      <p:sp>
        <p:nvSpPr>
          <p:cNvPr id="10" name="Text 8"/>
          <p:cNvSpPr/>
          <p:nvPr/>
        </p:nvSpPr>
        <p:spPr>
          <a:xfrm>
            <a:off x="4572000" y="4096512"/>
            <a:ext cx="2971800" cy="640080"/>
          </a:xfrm>
          <a:prstGeom prst="rect">
            <a:avLst/>
          </a:prstGeom>
          <a:noFill/>
          <a:ln/>
        </p:spPr>
        <p:txBody>
          <a:bodyPr wrap="square" rtlCol="0" anchor="ctr"/>
          <a:lstStyle/>
          <a:p>
            <a:pPr marL="0" indent="0">
              <a:buNone/>
            </a:pPr>
            <a:r>
              <a:rPr lang="en-US" sz="3000" b="1" dirty="0">
                <a:solidFill>
                  <a:srgbClr val="C08552"/>
                </a:solidFill>
                <a:latin typeface="Cambria" pitchFamily="34" charset="0"/>
                <a:ea typeface="Cambria" pitchFamily="34" charset="-122"/>
                <a:cs typeface="Cambria" pitchFamily="34" charset="-120"/>
              </a:rPr>
              <a:t>14</a:t>
            </a:r>
            <a:endParaRPr lang="en-US" sz="3000" dirty="0"/>
          </a:p>
        </p:txBody>
      </p:sp>
      <p:sp>
        <p:nvSpPr>
          <p:cNvPr id="11" name="Text 9"/>
          <p:cNvSpPr/>
          <p:nvPr/>
        </p:nvSpPr>
        <p:spPr>
          <a:xfrm>
            <a:off x="4572000" y="4773168"/>
            <a:ext cx="2971800" cy="502920"/>
          </a:xfrm>
          <a:prstGeom prst="rect">
            <a:avLst/>
          </a:prstGeom>
          <a:noFill/>
          <a:ln/>
        </p:spPr>
        <p:txBody>
          <a:bodyPr wrap="square" rtlCol="0" anchor="ctr"/>
          <a:lstStyle/>
          <a:p>
            <a:pPr marL="0" indent="0">
              <a:buNone/>
            </a:pPr>
            <a:r>
              <a:rPr lang="en-US" sz="1100" dirty="0">
                <a:solidFill>
                  <a:srgbClr val="EDE0D3"/>
                </a:solidFill>
                <a:latin typeface="Calibri" pitchFamily="34" charset="0"/>
                <a:ea typeface="Calibri" pitchFamily="34" charset="-122"/>
                <a:cs typeface="Calibri" pitchFamily="34" charset="-120"/>
              </a:rPr>
              <a:t>cities currently served</a:t>
            </a:r>
            <a:endParaRPr lang="en-US" sz="1100" dirty="0"/>
          </a:p>
        </p:txBody>
      </p:sp>
      <p:sp>
        <p:nvSpPr>
          <p:cNvPr id="12" name="Shape 10"/>
          <p:cNvSpPr/>
          <p:nvPr/>
        </p:nvSpPr>
        <p:spPr>
          <a:xfrm>
            <a:off x="8138160" y="3931920"/>
            <a:ext cx="3429000" cy="1463040"/>
          </a:xfrm>
          <a:prstGeom prst="roundRect">
            <a:avLst>
              <a:gd name="adj" fmla="val 5000"/>
            </a:avLst>
          </a:prstGeom>
          <a:solidFill>
            <a:srgbClr val="3C2A21"/>
          </a:solidFill>
          <a:ln/>
        </p:spPr>
        <p:txBody>
          <a:bodyPr/>
          <a:lstStyle/>
          <a:p>
            <a:endParaRPr lang="en-GB"/>
          </a:p>
        </p:txBody>
      </p:sp>
      <p:sp>
        <p:nvSpPr>
          <p:cNvPr id="13" name="Text 11"/>
          <p:cNvSpPr/>
          <p:nvPr/>
        </p:nvSpPr>
        <p:spPr>
          <a:xfrm>
            <a:off x="8366760" y="4096512"/>
            <a:ext cx="2971800" cy="640080"/>
          </a:xfrm>
          <a:prstGeom prst="rect">
            <a:avLst/>
          </a:prstGeom>
          <a:noFill/>
          <a:ln/>
        </p:spPr>
        <p:txBody>
          <a:bodyPr wrap="square" rtlCol="0" anchor="ctr"/>
          <a:lstStyle/>
          <a:p>
            <a:pPr marL="0" indent="0">
              <a:buNone/>
            </a:pPr>
            <a:r>
              <a:rPr lang="en-US" sz="3000" b="1" dirty="0">
                <a:solidFill>
                  <a:srgbClr val="C08552"/>
                </a:solidFill>
                <a:latin typeface="Cambria" pitchFamily="34" charset="0"/>
                <a:ea typeface="Cambria" pitchFamily="34" charset="-122"/>
                <a:cs typeface="Cambria" pitchFamily="34" charset="-120"/>
              </a:rPr>
              <a:t>497</a:t>
            </a:r>
            <a:endParaRPr lang="en-US" sz="3000" dirty="0"/>
          </a:p>
        </p:txBody>
      </p:sp>
      <p:sp>
        <p:nvSpPr>
          <p:cNvPr id="14" name="Text 12"/>
          <p:cNvSpPr/>
          <p:nvPr/>
        </p:nvSpPr>
        <p:spPr>
          <a:xfrm>
            <a:off x="8366760" y="4773168"/>
            <a:ext cx="2971800" cy="502920"/>
          </a:xfrm>
          <a:prstGeom prst="rect">
            <a:avLst/>
          </a:prstGeom>
          <a:noFill/>
          <a:ln/>
        </p:spPr>
        <p:txBody>
          <a:bodyPr wrap="square" rtlCol="0" anchor="ctr"/>
          <a:lstStyle/>
          <a:p>
            <a:pPr marL="0" indent="0">
              <a:buNone/>
            </a:pPr>
            <a:r>
              <a:rPr lang="en-US" sz="1100" dirty="0">
                <a:solidFill>
                  <a:srgbClr val="EDE0D3"/>
                </a:solidFill>
                <a:latin typeface="Calibri" pitchFamily="34" charset="0"/>
                <a:ea typeface="Calibri" pitchFamily="34" charset="-122"/>
                <a:cs typeface="Calibri" pitchFamily="34" charset="-120"/>
              </a:rPr>
              <a:t>customers in the dataset</a:t>
            </a:r>
            <a:endParaRPr lang="en-US" sz="1100" dirty="0"/>
          </a:p>
        </p:txBody>
      </p:sp>
      <p:sp>
        <p:nvSpPr>
          <p:cNvPr id="15" name="Text 13"/>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8A7B6C"/>
                </a:solidFill>
                <a:latin typeface="Calibri" pitchFamily="34" charset="0"/>
                <a:ea typeface="Calibri" pitchFamily="34" charset="-122"/>
                <a:cs typeface="Calibri" pitchFamily="34" charset="-120"/>
              </a:rPr>
              <a:t>Business Expansion Report  |  Coffee Shop Market Analysis</a:t>
            </a:r>
            <a:endParaRPr lang="en-US" sz="900" dirty="0"/>
          </a:p>
        </p:txBody>
      </p:sp>
      <p:sp>
        <p:nvSpPr>
          <p:cNvPr id="16" name="Text 1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8A7B6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2A1D17"/>
                </a:solidFill>
                <a:latin typeface="Cambria" pitchFamily="34" charset="0"/>
                <a:ea typeface="Cambria" pitchFamily="34" charset="-122"/>
                <a:cs typeface="Cambria" pitchFamily="34" charset="-120"/>
              </a:rPr>
              <a:t>Data Analysis Performed</a:t>
            </a:r>
            <a:endParaRPr lang="en-US" sz="3000" dirty="0"/>
          </a:p>
        </p:txBody>
      </p:sp>
      <p:sp>
        <p:nvSpPr>
          <p:cNvPr id="3" name="Text 1"/>
          <p:cNvSpPr/>
          <p:nvPr/>
        </p:nvSpPr>
        <p:spPr>
          <a:xfrm>
            <a:off x="548640" y="987552"/>
            <a:ext cx="11091672" cy="365760"/>
          </a:xfrm>
          <a:prstGeom prst="rect">
            <a:avLst/>
          </a:prstGeom>
          <a:noFill/>
          <a:ln/>
        </p:spPr>
        <p:txBody>
          <a:bodyPr wrap="square" rtlCol="0" anchor="ctr"/>
          <a:lstStyle/>
          <a:p>
            <a:pPr marL="0" indent="0">
              <a:buNone/>
            </a:pPr>
            <a:r>
              <a:rPr lang="en-US" sz="1300" i="1" dirty="0">
                <a:solidFill>
                  <a:srgbClr val="8A7B6C"/>
                </a:solidFill>
                <a:latin typeface="Calibri" pitchFamily="34" charset="0"/>
                <a:ea typeface="Calibri" pitchFamily="34" charset="-122"/>
                <a:cs typeface="Calibri" pitchFamily="34" charset="-120"/>
              </a:rPr>
              <a:t>Every city was evaluated on the same set of metrics for a fair, like-for-like comparison</a:t>
            </a:r>
            <a:endParaRPr lang="en-US" sz="1300" dirty="0"/>
          </a:p>
        </p:txBody>
      </p:sp>
      <p:sp>
        <p:nvSpPr>
          <p:cNvPr id="4" name="Shape 2"/>
          <p:cNvSpPr/>
          <p:nvPr/>
        </p:nvSpPr>
        <p:spPr>
          <a:xfrm>
            <a:off x="548640" y="1783080"/>
            <a:ext cx="5440680" cy="1051560"/>
          </a:xfrm>
          <a:prstGeom prst="roundRect">
            <a:avLst>
              <a:gd name="adj" fmla="val 6957"/>
            </a:avLst>
          </a:prstGeom>
          <a:solidFill>
            <a:srgbClr val="FFFFFF"/>
          </a:solidFill>
          <a:ln w="12700">
            <a:solidFill>
              <a:srgbClr val="E4D5C3"/>
            </a:solidFill>
            <a:prstDash val="solid"/>
          </a:ln>
          <a:effectLst>
            <a:outerShdw blurRad="63500" dist="25400" dir="5400000" algn="bl" rotWithShape="0">
              <a:srgbClr val="3C2A21">
                <a:alpha val="10000"/>
              </a:srgbClr>
            </a:outerShdw>
          </a:effectLst>
        </p:spPr>
        <p:txBody>
          <a:bodyPr/>
          <a:lstStyle/>
          <a:p>
            <a:endParaRPr lang="en-GB"/>
          </a:p>
        </p:txBody>
      </p:sp>
      <p:sp>
        <p:nvSpPr>
          <p:cNvPr id="5" name="Shape 3"/>
          <p:cNvSpPr/>
          <p:nvPr/>
        </p:nvSpPr>
        <p:spPr>
          <a:xfrm>
            <a:off x="749808" y="2039112"/>
            <a:ext cx="530352" cy="530352"/>
          </a:xfrm>
          <a:prstGeom prst="ellipse">
            <a:avLst/>
          </a:prstGeom>
          <a:solidFill>
            <a:srgbClr val="C08552"/>
          </a:solidFill>
          <a:ln/>
        </p:spPr>
        <p:txBody>
          <a:bodyPr/>
          <a:lstStyle/>
          <a:p>
            <a:endParaRPr lang="en-GB"/>
          </a:p>
        </p:txBody>
      </p:sp>
      <p:sp>
        <p:nvSpPr>
          <p:cNvPr id="6" name="Text 4"/>
          <p:cNvSpPr/>
          <p:nvPr/>
        </p:nvSpPr>
        <p:spPr>
          <a:xfrm>
            <a:off x="749808" y="2039112"/>
            <a:ext cx="530352" cy="530352"/>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63040" y="1783080"/>
            <a:ext cx="4343400" cy="1051560"/>
          </a:xfrm>
          <a:prstGeom prst="rect">
            <a:avLst/>
          </a:prstGeom>
          <a:noFill/>
          <a:ln/>
        </p:spPr>
        <p:txBody>
          <a:bodyPr wrap="square" rtlCol="0" anchor="ctr"/>
          <a:lstStyle/>
          <a:p>
            <a:pPr marL="0" indent="0">
              <a:buNone/>
            </a:pPr>
            <a:r>
              <a:rPr lang="en-US" sz="1400" b="1" dirty="0">
                <a:solidFill>
                  <a:srgbClr val="2A1D17"/>
                </a:solidFill>
                <a:latin typeface="Cambria" pitchFamily="34" charset="0"/>
                <a:ea typeface="Cambria" pitchFamily="34" charset="-122"/>
                <a:cs typeface="Cambria" pitchFamily="34" charset="-120"/>
              </a:rPr>
              <a:t>Total sales by city</a:t>
            </a:r>
            <a:endParaRPr lang="en-US" sz="1400" dirty="0"/>
          </a:p>
        </p:txBody>
      </p:sp>
      <p:sp>
        <p:nvSpPr>
          <p:cNvPr id="8" name="Shape 6"/>
          <p:cNvSpPr/>
          <p:nvPr/>
        </p:nvSpPr>
        <p:spPr>
          <a:xfrm>
            <a:off x="6309360" y="1783080"/>
            <a:ext cx="5440680" cy="1051560"/>
          </a:xfrm>
          <a:prstGeom prst="roundRect">
            <a:avLst>
              <a:gd name="adj" fmla="val 6957"/>
            </a:avLst>
          </a:prstGeom>
          <a:solidFill>
            <a:srgbClr val="FFFFFF"/>
          </a:solidFill>
          <a:ln w="12700">
            <a:solidFill>
              <a:srgbClr val="E4D5C3"/>
            </a:solidFill>
            <a:prstDash val="solid"/>
          </a:ln>
          <a:effectLst>
            <a:outerShdw blurRad="63500" dist="25400" dir="5400000" algn="bl" rotWithShape="0">
              <a:srgbClr val="3C2A21">
                <a:alpha val="10000"/>
              </a:srgbClr>
            </a:outerShdw>
          </a:effectLst>
        </p:spPr>
        <p:txBody>
          <a:bodyPr/>
          <a:lstStyle/>
          <a:p>
            <a:endParaRPr lang="en-GB"/>
          </a:p>
        </p:txBody>
      </p:sp>
      <p:sp>
        <p:nvSpPr>
          <p:cNvPr id="9" name="Shape 7"/>
          <p:cNvSpPr/>
          <p:nvPr/>
        </p:nvSpPr>
        <p:spPr>
          <a:xfrm>
            <a:off x="6510528" y="2039112"/>
            <a:ext cx="530352" cy="530352"/>
          </a:xfrm>
          <a:prstGeom prst="ellipse">
            <a:avLst/>
          </a:prstGeom>
          <a:solidFill>
            <a:srgbClr val="C08552"/>
          </a:solidFill>
          <a:ln/>
        </p:spPr>
        <p:txBody>
          <a:bodyPr/>
          <a:lstStyle/>
          <a:p>
            <a:endParaRPr lang="en-GB"/>
          </a:p>
        </p:txBody>
      </p:sp>
      <p:sp>
        <p:nvSpPr>
          <p:cNvPr id="10" name="Text 8"/>
          <p:cNvSpPr/>
          <p:nvPr/>
        </p:nvSpPr>
        <p:spPr>
          <a:xfrm>
            <a:off x="6510528" y="2039112"/>
            <a:ext cx="530352" cy="530352"/>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7223760" y="1783080"/>
            <a:ext cx="4343400" cy="1051560"/>
          </a:xfrm>
          <a:prstGeom prst="rect">
            <a:avLst/>
          </a:prstGeom>
          <a:noFill/>
          <a:ln/>
        </p:spPr>
        <p:txBody>
          <a:bodyPr wrap="square" rtlCol="0" anchor="ctr"/>
          <a:lstStyle/>
          <a:p>
            <a:pPr marL="0" indent="0">
              <a:buNone/>
            </a:pPr>
            <a:r>
              <a:rPr lang="en-US" sz="1400" b="1" dirty="0">
                <a:solidFill>
                  <a:srgbClr val="2A1D17"/>
                </a:solidFill>
                <a:latin typeface="Cambria" pitchFamily="34" charset="0"/>
                <a:ea typeface="Cambria" pitchFamily="34" charset="-122"/>
                <a:cs typeface="Cambria" pitchFamily="34" charset="-120"/>
              </a:rPr>
              <a:t>Number of customer orders</a:t>
            </a:r>
            <a:endParaRPr lang="en-US" sz="1400" dirty="0"/>
          </a:p>
        </p:txBody>
      </p:sp>
      <p:sp>
        <p:nvSpPr>
          <p:cNvPr id="12" name="Shape 10"/>
          <p:cNvSpPr/>
          <p:nvPr/>
        </p:nvSpPr>
        <p:spPr>
          <a:xfrm>
            <a:off x="548640" y="3035808"/>
            <a:ext cx="5440680" cy="1051560"/>
          </a:xfrm>
          <a:prstGeom prst="roundRect">
            <a:avLst>
              <a:gd name="adj" fmla="val 6957"/>
            </a:avLst>
          </a:prstGeom>
          <a:solidFill>
            <a:srgbClr val="FFFFFF"/>
          </a:solidFill>
          <a:ln w="12700">
            <a:solidFill>
              <a:srgbClr val="E4D5C3"/>
            </a:solidFill>
            <a:prstDash val="solid"/>
          </a:ln>
          <a:effectLst>
            <a:outerShdw blurRad="63500" dist="25400" dir="5400000" algn="bl" rotWithShape="0">
              <a:srgbClr val="3C2A21">
                <a:alpha val="10000"/>
              </a:srgbClr>
            </a:outerShdw>
          </a:effectLst>
        </p:spPr>
        <p:txBody>
          <a:bodyPr/>
          <a:lstStyle/>
          <a:p>
            <a:endParaRPr lang="en-GB"/>
          </a:p>
        </p:txBody>
      </p:sp>
      <p:sp>
        <p:nvSpPr>
          <p:cNvPr id="13" name="Shape 11"/>
          <p:cNvSpPr/>
          <p:nvPr/>
        </p:nvSpPr>
        <p:spPr>
          <a:xfrm>
            <a:off x="749808" y="3291840"/>
            <a:ext cx="530352" cy="530352"/>
          </a:xfrm>
          <a:prstGeom prst="ellipse">
            <a:avLst/>
          </a:prstGeom>
          <a:solidFill>
            <a:srgbClr val="C08552"/>
          </a:solidFill>
          <a:ln/>
        </p:spPr>
        <p:txBody>
          <a:bodyPr/>
          <a:lstStyle/>
          <a:p>
            <a:endParaRPr lang="en-GB"/>
          </a:p>
        </p:txBody>
      </p:sp>
      <p:sp>
        <p:nvSpPr>
          <p:cNvPr id="14" name="Text 12"/>
          <p:cNvSpPr/>
          <p:nvPr/>
        </p:nvSpPr>
        <p:spPr>
          <a:xfrm>
            <a:off x="749808" y="3291840"/>
            <a:ext cx="530352" cy="530352"/>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1463040" y="3035808"/>
            <a:ext cx="4343400" cy="1051560"/>
          </a:xfrm>
          <a:prstGeom prst="rect">
            <a:avLst/>
          </a:prstGeom>
          <a:noFill/>
          <a:ln/>
        </p:spPr>
        <p:txBody>
          <a:bodyPr wrap="square" rtlCol="0" anchor="ctr"/>
          <a:lstStyle/>
          <a:p>
            <a:pPr marL="0" indent="0">
              <a:buNone/>
            </a:pPr>
            <a:r>
              <a:rPr lang="en-US" sz="1400" b="1" dirty="0">
                <a:solidFill>
                  <a:srgbClr val="2A1D17"/>
                </a:solidFill>
                <a:latin typeface="Cambria" pitchFamily="34" charset="0"/>
                <a:ea typeface="Cambria" pitchFamily="34" charset="-122"/>
                <a:cs typeface="Cambria" pitchFamily="34" charset="-120"/>
              </a:rPr>
              <a:t>Average order value</a:t>
            </a:r>
            <a:endParaRPr lang="en-US" sz="1400" dirty="0"/>
          </a:p>
        </p:txBody>
      </p:sp>
      <p:sp>
        <p:nvSpPr>
          <p:cNvPr id="16" name="Shape 14"/>
          <p:cNvSpPr/>
          <p:nvPr/>
        </p:nvSpPr>
        <p:spPr>
          <a:xfrm>
            <a:off x="6309360" y="3035808"/>
            <a:ext cx="5440680" cy="1051560"/>
          </a:xfrm>
          <a:prstGeom prst="roundRect">
            <a:avLst>
              <a:gd name="adj" fmla="val 6957"/>
            </a:avLst>
          </a:prstGeom>
          <a:solidFill>
            <a:srgbClr val="FFFFFF"/>
          </a:solidFill>
          <a:ln w="12700">
            <a:solidFill>
              <a:srgbClr val="E4D5C3"/>
            </a:solidFill>
            <a:prstDash val="solid"/>
          </a:ln>
          <a:effectLst>
            <a:outerShdw blurRad="63500" dist="25400" dir="5400000" algn="bl" rotWithShape="0">
              <a:srgbClr val="3C2A21">
                <a:alpha val="10000"/>
              </a:srgbClr>
            </a:outerShdw>
          </a:effectLst>
        </p:spPr>
        <p:txBody>
          <a:bodyPr/>
          <a:lstStyle/>
          <a:p>
            <a:endParaRPr lang="en-GB"/>
          </a:p>
        </p:txBody>
      </p:sp>
      <p:sp>
        <p:nvSpPr>
          <p:cNvPr id="17" name="Shape 15"/>
          <p:cNvSpPr/>
          <p:nvPr/>
        </p:nvSpPr>
        <p:spPr>
          <a:xfrm>
            <a:off x="6510528" y="3291840"/>
            <a:ext cx="530352" cy="530352"/>
          </a:xfrm>
          <a:prstGeom prst="ellipse">
            <a:avLst/>
          </a:prstGeom>
          <a:solidFill>
            <a:srgbClr val="C08552"/>
          </a:solidFill>
          <a:ln/>
        </p:spPr>
        <p:txBody>
          <a:bodyPr/>
          <a:lstStyle/>
          <a:p>
            <a:endParaRPr lang="en-GB"/>
          </a:p>
        </p:txBody>
      </p:sp>
      <p:sp>
        <p:nvSpPr>
          <p:cNvPr id="18" name="Text 16"/>
          <p:cNvSpPr/>
          <p:nvPr/>
        </p:nvSpPr>
        <p:spPr>
          <a:xfrm>
            <a:off x="6510528" y="3291840"/>
            <a:ext cx="530352" cy="530352"/>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7"/>
          <p:cNvSpPr/>
          <p:nvPr/>
        </p:nvSpPr>
        <p:spPr>
          <a:xfrm>
            <a:off x="7223760" y="3035808"/>
            <a:ext cx="4343400" cy="1051560"/>
          </a:xfrm>
          <a:prstGeom prst="rect">
            <a:avLst/>
          </a:prstGeom>
          <a:noFill/>
          <a:ln/>
        </p:spPr>
        <p:txBody>
          <a:bodyPr wrap="square" rtlCol="0" anchor="ctr"/>
          <a:lstStyle/>
          <a:p>
            <a:pPr marL="0" indent="0">
              <a:buNone/>
            </a:pPr>
            <a:r>
              <a:rPr lang="en-US" sz="1400" b="1" dirty="0">
                <a:solidFill>
                  <a:srgbClr val="2A1D17"/>
                </a:solidFill>
                <a:latin typeface="Cambria" pitchFamily="34" charset="0"/>
                <a:ea typeface="Cambria" pitchFamily="34" charset="-122"/>
                <a:cs typeface="Cambria" pitchFamily="34" charset="-120"/>
              </a:rPr>
              <a:t>Best-selling products</a:t>
            </a:r>
            <a:endParaRPr lang="en-US" sz="1400" dirty="0"/>
          </a:p>
        </p:txBody>
      </p:sp>
      <p:sp>
        <p:nvSpPr>
          <p:cNvPr id="20" name="Shape 18"/>
          <p:cNvSpPr/>
          <p:nvPr/>
        </p:nvSpPr>
        <p:spPr>
          <a:xfrm>
            <a:off x="548640" y="4288536"/>
            <a:ext cx="5440680" cy="1051560"/>
          </a:xfrm>
          <a:prstGeom prst="roundRect">
            <a:avLst>
              <a:gd name="adj" fmla="val 6957"/>
            </a:avLst>
          </a:prstGeom>
          <a:solidFill>
            <a:srgbClr val="FFFFFF"/>
          </a:solidFill>
          <a:ln w="12700">
            <a:solidFill>
              <a:srgbClr val="E4D5C3"/>
            </a:solidFill>
            <a:prstDash val="solid"/>
          </a:ln>
          <a:effectLst>
            <a:outerShdw blurRad="63500" dist="25400" dir="5400000" algn="bl" rotWithShape="0">
              <a:srgbClr val="3C2A21">
                <a:alpha val="10000"/>
              </a:srgbClr>
            </a:outerShdw>
          </a:effectLst>
        </p:spPr>
        <p:txBody>
          <a:bodyPr/>
          <a:lstStyle/>
          <a:p>
            <a:endParaRPr lang="en-GB"/>
          </a:p>
        </p:txBody>
      </p:sp>
      <p:sp>
        <p:nvSpPr>
          <p:cNvPr id="21" name="Shape 19"/>
          <p:cNvSpPr/>
          <p:nvPr/>
        </p:nvSpPr>
        <p:spPr>
          <a:xfrm>
            <a:off x="749808" y="4544568"/>
            <a:ext cx="530352" cy="530352"/>
          </a:xfrm>
          <a:prstGeom prst="ellipse">
            <a:avLst/>
          </a:prstGeom>
          <a:solidFill>
            <a:srgbClr val="C08552"/>
          </a:solidFill>
          <a:ln/>
        </p:spPr>
        <p:txBody>
          <a:bodyPr/>
          <a:lstStyle/>
          <a:p>
            <a:endParaRPr lang="en-GB"/>
          </a:p>
        </p:txBody>
      </p:sp>
      <p:sp>
        <p:nvSpPr>
          <p:cNvPr id="22" name="Text 20"/>
          <p:cNvSpPr/>
          <p:nvPr/>
        </p:nvSpPr>
        <p:spPr>
          <a:xfrm>
            <a:off x="749808" y="4544568"/>
            <a:ext cx="530352" cy="530352"/>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3" name="Text 21"/>
          <p:cNvSpPr/>
          <p:nvPr/>
        </p:nvSpPr>
        <p:spPr>
          <a:xfrm>
            <a:off x="1463040" y="4288536"/>
            <a:ext cx="4343400" cy="1051560"/>
          </a:xfrm>
          <a:prstGeom prst="rect">
            <a:avLst/>
          </a:prstGeom>
          <a:noFill/>
          <a:ln/>
        </p:spPr>
        <p:txBody>
          <a:bodyPr wrap="square" rtlCol="0" anchor="ctr"/>
          <a:lstStyle/>
          <a:p>
            <a:pPr marL="0" indent="0">
              <a:buNone/>
            </a:pPr>
            <a:r>
              <a:rPr lang="en-US" sz="1400" b="1" dirty="0">
                <a:solidFill>
                  <a:srgbClr val="2A1D17"/>
                </a:solidFill>
                <a:latin typeface="Cambria" pitchFamily="34" charset="0"/>
                <a:ea typeface="Cambria" pitchFamily="34" charset="-122"/>
                <a:cs typeface="Cambria" pitchFamily="34" charset="-120"/>
              </a:rPr>
              <a:t>Monthly sales trends</a:t>
            </a:r>
            <a:endParaRPr lang="en-US" sz="1400" dirty="0"/>
          </a:p>
        </p:txBody>
      </p:sp>
      <p:sp>
        <p:nvSpPr>
          <p:cNvPr id="24" name="Shape 22"/>
          <p:cNvSpPr/>
          <p:nvPr/>
        </p:nvSpPr>
        <p:spPr>
          <a:xfrm>
            <a:off x="6309360" y="4288536"/>
            <a:ext cx="5440680" cy="1051560"/>
          </a:xfrm>
          <a:prstGeom prst="roundRect">
            <a:avLst>
              <a:gd name="adj" fmla="val 6957"/>
            </a:avLst>
          </a:prstGeom>
          <a:solidFill>
            <a:srgbClr val="FFFFFF"/>
          </a:solidFill>
          <a:ln w="12700">
            <a:solidFill>
              <a:srgbClr val="E4D5C3"/>
            </a:solidFill>
            <a:prstDash val="solid"/>
          </a:ln>
          <a:effectLst>
            <a:outerShdw blurRad="63500" dist="25400" dir="5400000" algn="bl" rotWithShape="0">
              <a:srgbClr val="3C2A21">
                <a:alpha val="10000"/>
              </a:srgbClr>
            </a:outerShdw>
          </a:effectLst>
        </p:spPr>
        <p:txBody>
          <a:bodyPr/>
          <a:lstStyle/>
          <a:p>
            <a:endParaRPr lang="en-GB"/>
          </a:p>
        </p:txBody>
      </p:sp>
      <p:sp>
        <p:nvSpPr>
          <p:cNvPr id="25" name="Shape 23"/>
          <p:cNvSpPr/>
          <p:nvPr/>
        </p:nvSpPr>
        <p:spPr>
          <a:xfrm>
            <a:off x="6510528" y="4544568"/>
            <a:ext cx="530352" cy="530352"/>
          </a:xfrm>
          <a:prstGeom prst="ellipse">
            <a:avLst/>
          </a:prstGeom>
          <a:solidFill>
            <a:srgbClr val="C08552"/>
          </a:solidFill>
          <a:ln/>
        </p:spPr>
        <p:txBody>
          <a:bodyPr/>
          <a:lstStyle/>
          <a:p>
            <a:endParaRPr lang="en-GB"/>
          </a:p>
        </p:txBody>
      </p:sp>
      <p:sp>
        <p:nvSpPr>
          <p:cNvPr id="26" name="Text 24"/>
          <p:cNvSpPr/>
          <p:nvPr/>
        </p:nvSpPr>
        <p:spPr>
          <a:xfrm>
            <a:off x="6510528" y="4544568"/>
            <a:ext cx="530352" cy="530352"/>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7" name="Text 25"/>
          <p:cNvSpPr/>
          <p:nvPr/>
        </p:nvSpPr>
        <p:spPr>
          <a:xfrm>
            <a:off x="7223760" y="4288536"/>
            <a:ext cx="4343400" cy="1051560"/>
          </a:xfrm>
          <a:prstGeom prst="rect">
            <a:avLst/>
          </a:prstGeom>
          <a:noFill/>
          <a:ln/>
        </p:spPr>
        <p:txBody>
          <a:bodyPr wrap="square" rtlCol="0" anchor="ctr"/>
          <a:lstStyle/>
          <a:p>
            <a:pPr marL="0" indent="0">
              <a:buNone/>
            </a:pPr>
            <a:r>
              <a:rPr lang="en-US" sz="1400" b="1" dirty="0">
                <a:solidFill>
                  <a:srgbClr val="2A1D17"/>
                </a:solidFill>
                <a:latin typeface="Cambria" pitchFamily="34" charset="0"/>
                <a:ea typeface="Cambria" pitchFamily="34" charset="-122"/>
                <a:cs typeface="Cambria" pitchFamily="34" charset="-120"/>
              </a:rPr>
              <a:t>Customer purchasing behaviour</a:t>
            </a:r>
            <a:endParaRPr lang="en-US" sz="1400" dirty="0"/>
          </a:p>
        </p:txBody>
      </p:sp>
      <p:sp>
        <p:nvSpPr>
          <p:cNvPr id="28" name="Text 26"/>
          <p:cNvSpPr/>
          <p:nvPr/>
        </p:nvSpPr>
        <p:spPr>
          <a:xfrm>
            <a:off x="548640" y="5532120"/>
            <a:ext cx="11064240" cy="548640"/>
          </a:xfrm>
          <a:prstGeom prst="rect">
            <a:avLst/>
          </a:prstGeom>
          <a:noFill/>
          <a:ln/>
        </p:spPr>
        <p:txBody>
          <a:bodyPr wrap="square" rtlCol="0" anchor="ctr"/>
          <a:lstStyle/>
          <a:p>
            <a:pPr marL="0" indent="0">
              <a:lnSpc>
                <a:spcPts val="1400"/>
              </a:lnSpc>
              <a:buNone/>
            </a:pPr>
            <a:r>
              <a:rPr lang="en-US" sz="1150" i="1" dirty="0">
                <a:solidFill>
                  <a:srgbClr val="8A7B6C"/>
                </a:solidFill>
                <a:latin typeface="Calibri" pitchFamily="34" charset="0"/>
                <a:ea typeface="Calibri" pitchFamily="34" charset="-122"/>
                <a:cs typeface="Calibri" pitchFamily="34" charset="-120"/>
              </a:rPr>
              <a:t>These metrics were combined to evaluate the overall business potential of each city, run as SQL queries against the joined sales, product, customer and city tables in PostgreSQL.</a:t>
            </a:r>
            <a:endParaRPr lang="en-US" sz="1150" dirty="0"/>
          </a:p>
        </p:txBody>
      </p:sp>
      <p:sp>
        <p:nvSpPr>
          <p:cNvPr id="29" name="Text 27"/>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8A7B6C"/>
                </a:solidFill>
                <a:latin typeface="Calibri" pitchFamily="34" charset="0"/>
                <a:ea typeface="Calibri" pitchFamily="34" charset="-122"/>
                <a:cs typeface="Calibri" pitchFamily="34" charset="-120"/>
              </a:rPr>
              <a:t>Business Expansion Report  |  Coffee Shop Market Analysis</a:t>
            </a:r>
            <a:endParaRPr lang="en-US" sz="900" dirty="0"/>
          </a:p>
        </p:txBody>
      </p:sp>
      <p:sp>
        <p:nvSpPr>
          <p:cNvPr id="30" name="Text 2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8A7B6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C2A21"/>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Key Insights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987552"/>
            <a:ext cx="11091672"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D8C9B8"/>
                </a:solidFill>
                <a:effectLst/>
                <a:uLnTx/>
                <a:uFillTx/>
                <a:latin typeface="Calibri" pitchFamily="34" charset="0"/>
                <a:ea typeface="Calibri" pitchFamily="34" charset="-122"/>
                <a:cs typeface="Calibri" pitchFamily="34" charset="-120"/>
              </a:rPr>
              <a:t>What the analysis revealed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48640" y="1645920"/>
            <a:ext cx="5440680" cy="1828800"/>
          </a:xfrm>
          <a:prstGeom prst="roundRect">
            <a:avLst>
              <a:gd name="adj" fmla="val 4000"/>
            </a:avLst>
          </a:prstGeom>
          <a:solidFill>
            <a:srgbClr val="4A362B"/>
          </a:solidFill>
          <a:ln/>
        </p:spPr>
        <p:txBody>
          <a:bodyPr/>
          <a:lstStyle/>
          <a:p>
            <a:endParaRPr lang="en-GB"/>
          </a:p>
        </p:txBody>
      </p:sp>
      <p:sp>
        <p:nvSpPr>
          <p:cNvPr id="5" name="Text 3"/>
          <p:cNvSpPr/>
          <p:nvPr/>
        </p:nvSpPr>
        <p:spPr>
          <a:xfrm>
            <a:off x="777240" y="1828800"/>
            <a:ext cx="49834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C08552"/>
                </a:solidFill>
                <a:effectLst/>
                <a:uLnTx/>
                <a:uFillTx/>
                <a:latin typeface="Cambria" pitchFamily="34" charset="0"/>
                <a:ea typeface="Cambria" pitchFamily="34" charset="-122"/>
                <a:cs typeface="Cambria" pitchFamily="34" charset="-120"/>
              </a:rPr>
              <a:t>Revenue is concentrated</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77240" y="2304288"/>
            <a:ext cx="4983480" cy="1051560"/>
          </a:xfrm>
          <a:prstGeom prst="rect">
            <a:avLst/>
          </a:prstGeom>
          <a:noFill/>
          <a:ln/>
        </p:spPr>
        <p:txBody>
          <a:bodyPr wrap="square"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DE0D3"/>
                </a:solidFill>
                <a:effectLst/>
                <a:uLnTx/>
                <a:uFillTx/>
                <a:latin typeface="Calibri" pitchFamily="34" charset="0"/>
                <a:ea typeface="Calibri" pitchFamily="34" charset="-122"/>
                <a:cs typeface="Calibri" pitchFamily="34" charset="-120"/>
              </a:rPr>
              <a:t>The highest-performing cities generate the largest share of total revenue — growth isn't spread evenly across the map.</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6309360" y="1645920"/>
            <a:ext cx="5440680" cy="1828800"/>
          </a:xfrm>
          <a:prstGeom prst="roundRect">
            <a:avLst>
              <a:gd name="adj" fmla="val 4000"/>
            </a:avLst>
          </a:prstGeom>
          <a:solidFill>
            <a:srgbClr val="4A362B"/>
          </a:solidFill>
          <a:ln/>
        </p:spPr>
        <p:txBody>
          <a:bodyPr/>
          <a:lstStyle/>
          <a:p>
            <a:endParaRPr lang="en-GB"/>
          </a:p>
        </p:txBody>
      </p:sp>
      <p:sp>
        <p:nvSpPr>
          <p:cNvPr id="8" name="Text 6"/>
          <p:cNvSpPr/>
          <p:nvPr/>
        </p:nvSpPr>
        <p:spPr>
          <a:xfrm>
            <a:off x="6537960" y="1828800"/>
            <a:ext cx="49834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C08552"/>
                </a:solidFill>
                <a:effectLst/>
                <a:uLnTx/>
                <a:uFillTx/>
                <a:latin typeface="Cambria" pitchFamily="34" charset="0"/>
                <a:ea typeface="Cambria" pitchFamily="34" charset="-122"/>
                <a:cs typeface="Cambria" pitchFamily="34" charset="-120"/>
              </a:rPr>
              <a:t>Order volume signals demand</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537960" y="2304288"/>
            <a:ext cx="4983480" cy="1051560"/>
          </a:xfrm>
          <a:prstGeom prst="rect">
            <a:avLst/>
          </a:prstGeom>
          <a:noFill/>
          <a:ln/>
        </p:spPr>
        <p:txBody>
          <a:bodyPr wrap="square"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DE0D3"/>
                </a:solidFill>
                <a:effectLst/>
                <a:uLnTx/>
                <a:uFillTx/>
                <a:latin typeface="Calibri" pitchFamily="34" charset="0"/>
                <a:ea typeface="Calibri" pitchFamily="34" charset="-122"/>
                <a:cs typeface="Calibri" pitchFamily="34" charset="-120"/>
              </a:rPr>
              <a:t>Cities with a higher number of orders show strong, consistent customer demand rather than one-off spikes.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548640" y="3703320"/>
            <a:ext cx="5440680" cy="1828800"/>
          </a:xfrm>
          <a:prstGeom prst="roundRect">
            <a:avLst>
              <a:gd name="adj" fmla="val 4000"/>
            </a:avLst>
          </a:prstGeom>
          <a:solidFill>
            <a:srgbClr val="4A362B"/>
          </a:solidFill>
          <a:ln/>
        </p:spPr>
        <p:txBody>
          <a:bodyPr/>
          <a:lstStyle/>
          <a:p>
            <a:endParaRPr lang="en-GB"/>
          </a:p>
        </p:txBody>
      </p:sp>
      <p:sp>
        <p:nvSpPr>
          <p:cNvPr id="11" name="Text 9"/>
          <p:cNvSpPr/>
          <p:nvPr/>
        </p:nvSpPr>
        <p:spPr>
          <a:xfrm>
            <a:off x="777240" y="3886200"/>
            <a:ext cx="49834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C08552"/>
                </a:solidFill>
                <a:effectLst/>
                <a:uLnTx/>
                <a:uFillTx/>
                <a:latin typeface="Cambria" pitchFamily="34" charset="0"/>
                <a:ea typeface="Cambria" pitchFamily="34" charset="-122"/>
                <a:cs typeface="Cambria" pitchFamily="34" charset="-120"/>
              </a:rPr>
              <a:t>Local product preferences exist</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77240" y="4361688"/>
            <a:ext cx="4983480" cy="1051560"/>
          </a:xfrm>
          <a:prstGeom prst="rect">
            <a:avLst/>
          </a:prstGeom>
          <a:noFill/>
          <a:ln/>
        </p:spPr>
        <p:txBody>
          <a:bodyPr wrap="square"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DE0D3"/>
                </a:solidFill>
                <a:effectLst/>
                <a:uLnTx/>
                <a:uFillTx/>
                <a:latin typeface="Calibri" pitchFamily="34" charset="0"/>
                <a:ea typeface="Calibri" pitchFamily="34" charset="-122"/>
                <a:cs typeface="Calibri" pitchFamily="34" charset="-120"/>
              </a:rPr>
              <a:t>Certain products are significantly more popular in specific cities, opening the door to localised menus per shop.</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3703320"/>
            <a:ext cx="5440680" cy="1828800"/>
          </a:xfrm>
          <a:prstGeom prst="roundRect">
            <a:avLst>
              <a:gd name="adj" fmla="val 4000"/>
            </a:avLst>
          </a:prstGeom>
          <a:solidFill>
            <a:srgbClr val="4A362B"/>
          </a:solidFill>
          <a:ln/>
        </p:spPr>
        <p:txBody>
          <a:bodyPr/>
          <a:lstStyle/>
          <a:p>
            <a:endParaRPr lang="en-GB"/>
          </a:p>
        </p:txBody>
      </p:sp>
      <p:sp>
        <p:nvSpPr>
          <p:cNvPr id="14" name="Text 12"/>
          <p:cNvSpPr/>
          <p:nvPr/>
        </p:nvSpPr>
        <p:spPr>
          <a:xfrm>
            <a:off x="6537960" y="3886200"/>
            <a:ext cx="49834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C08552"/>
                </a:solidFill>
                <a:effectLst/>
                <a:uLnTx/>
                <a:uFillTx/>
                <a:latin typeface="Cambria" pitchFamily="34" charset="0"/>
                <a:ea typeface="Cambria" pitchFamily="34" charset="-122"/>
                <a:cs typeface="Cambria" pitchFamily="34" charset="-120"/>
              </a:rPr>
              <a:t>Stable, growing markets exist</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537960" y="4361688"/>
            <a:ext cx="4983480" cy="1051560"/>
          </a:xfrm>
          <a:prstGeom prst="rect">
            <a:avLst/>
          </a:prstGeom>
          <a:noFill/>
          <a:ln/>
        </p:spPr>
        <p:txBody>
          <a:bodyPr wrap="square"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DE0D3"/>
                </a:solidFill>
                <a:effectLst/>
                <a:uLnTx/>
                <a:uFillTx/>
                <a:latin typeface="Calibri" pitchFamily="34" charset="0"/>
                <a:ea typeface="Calibri" pitchFamily="34" charset="-122"/>
                <a:cs typeface="Calibri" pitchFamily="34" charset="-120"/>
              </a:rPr>
              <a:t>Several cities show consistent monthly sales growth — a sign of a stable market suited to long-term investment.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457200" y="6473952"/>
            <a:ext cx="73152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9B8A8"/>
                </a:solidFill>
                <a:effectLst/>
                <a:uLnTx/>
                <a:uFillTx/>
                <a:latin typeface="Calibri" pitchFamily="34" charset="0"/>
                <a:ea typeface="Calibri" pitchFamily="34" charset="-122"/>
                <a:cs typeface="Calibri" pitchFamily="34" charset="-120"/>
              </a:rPr>
              <a:t>Business Expansion Report  |  Coffee Shop Market Analysis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11274552" y="6473952"/>
            <a:ext cx="4572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9B8A8"/>
                </a:solidFill>
                <a:effectLst/>
                <a:uLnTx/>
                <a:uFillTx/>
                <a:latin typeface="Calibri" pitchFamily="34" charset="0"/>
                <a:ea typeface="Calibri" pitchFamily="34" charset="-122"/>
                <a:cs typeface="Calibri" pitchFamily="34" charset="-120"/>
              </a:rPr>
              <a:t>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2A1D17"/>
                </a:solidFill>
                <a:latin typeface="Cambria" pitchFamily="34" charset="0"/>
                <a:ea typeface="Cambria" pitchFamily="34" charset="-122"/>
                <a:cs typeface="Cambria" pitchFamily="34" charset="-120"/>
              </a:rPr>
              <a:t>Recommendation</a:t>
            </a:r>
            <a:endParaRPr lang="en-US" sz="3000" dirty="0"/>
          </a:p>
        </p:txBody>
      </p:sp>
      <p:sp>
        <p:nvSpPr>
          <p:cNvPr id="3" name="Text 1"/>
          <p:cNvSpPr/>
          <p:nvPr/>
        </p:nvSpPr>
        <p:spPr>
          <a:xfrm>
            <a:off x="548640" y="987552"/>
            <a:ext cx="11091672" cy="365760"/>
          </a:xfrm>
          <a:prstGeom prst="rect">
            <a:avLst/>
          </a:prstGeom>
          <a:noFill/>
          <a:ln/>
        </p:spPr>
        <p:txBody>
          <a:bodyPr wrap="square" rtlCol="0" anchor="ctr"/>
          <a:lstStyle/>
          <a:p>
            <a:pPr marL="0" indent="0">
              <a:buNone/>
            </a:pPr>
            <a:r>
              <a:rPr lang="en-US" sz="1300" i="1" dirty="0">
                <a:solidFill>
                  <a:srgbClr val="8A7B6C"/>
                </a:solidFill>
                <a:latin typeface="Calibri" pitchFamily="34" charset="0"/>
                <a:ea typeface="Calibri" pitchFamily="34" charset="-122"/>
                <a:cs typeface="Calibri" pitchFamily="34" charset="-120"/>
              </a:rPr>
              <a:t>Three cities stand out clearly from the rest of the market</a:t>
            </a:r>
            <a:endParaRPr lang="en-US" sz="1300" dirty="0"/>
          </a:p>
        </p:txBody>
      </p:sp>
      <p:sp>
        <p:nvSpPr>
          <p:cNvPr id="4" name="Shape 2"/>
          <p:cNvSpPr/>
          <p:nvPr/>
        </p:nvSpPr>
        <p:spPr>
          <a:xfrm>
            <a:off x="548640" y="1691640"/>
            <a:ext cx="3520440" cy="4114800"/>
          </a:xfrm>
          <a:prstGeom prst="roundRect">
            <a:avLst>
              <a:gd name="adj" fmla="val 2597"/>
            </a:avLst>
          </a:prstGeom>
          <a:solidFill>
            <a:srgbClr val="3C2A21"/>
          </a:solidFill>
          <a:ln/>
          <a:effectLst>
            <a:outerShdw blurRad="101600" dist="38100" dir="5400000" algn="bl" rotWithShape="0">
              <a:srgbClr val="3C2A21">
                <a:alpha val="20000"/>
              </a:srgbClr>
            </a:outerShdw>
          </a:effectLst>
        </p:spPr>
        <p:txBody>
          <a:bodyPr/>
          <a:lstStyle/>
          <a:p>
            <a:endParaRPr lang="en-GB"/>
          </a:p>
        </p:txBody>
      </p:sp>
      <p:sp>
        <p:nvSpPr>
          <p:cNvPr id="5" name="Shape 3"/>
          <p:cNvSpPr/>
          <p:nvPr/>
        </p:nvSpPr>
        <p:spPr>
          <a:xfrm>
            <a:off x="1851660" y="2011680"/>
            <a:ext cx="914400" cy="914400"/>
          </a:xfrm>
          <a:prstGeom prst="ellipse">
            <a:avLst/>
          </a:prstGeom>
          <a:solidFill>
            <a:srgbClr val="C08552"/>
          </a:solidFill>
          <a:ln/>
        </p:spPr>
        <p:txBody>
          <a:bodyPr/>
          <a:lstStyle/>
          <a:p>
            <a:endParaRPr lang="en-GB"/>
          </a:p>
        </p:txBody>
      </p:sp>
      <p:sp>
        <p:nvSpPr>
          <p:cNvPr id="6" name="Text 4"/>
          <p:cNvSpPr/>
          <p:nvPr/>
        </p:nvSpPr>
        <p:spPr>
          <a:xfrm>
            <a:off x="1851660" y="2011680"/>
            <a:ext cx="914400" cy="9144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731520" y="3108960"/>
            <a:ext cx="3154680" cy="5029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Pune</a:t>
            </a:r>
            <a:endParaRPr lang="en-US" sz="2200" dirty="0"/>
          </a:p>
        </p:txBody>
      </p:sp>
      <p:sp>
        <p:nvSpPr>
          <p:cNvPr id="8" name="Shape 6"/>
          <p:cNvSpPr/>
          <p:nvPr/>
        </p:nvSpPr>
        <p:spPr>
          <a:xfrm>
            <a:off x="1851660" y="3703320"/>
            <a:ext cx="914400" cy="0"/>
          </a:xfrm>
          <a:prstGeom prst="line">
            <a:avLst/>
          </a:prstGeom>
          <a:noFill/>
          <a:ln w="19050">
            <a:solidFill>
              <a:srgbClr val="C08552"/>
            </a:solidFill>
            <a:prstDash val="solid"/>
          </a:ln>
        </p:spPr>
        <p:txBody>
          <a:bodyPr/>
          <a:lstStyle/>
          <a:p>
            <a:endParaRPr lang="en-GB"/>
          </a:p>
        </p:txBody>
      </p:sp>
      <p:sp>
        <p:nvSpPr>
          <p:cNvPr id="9" name="Text 7"/>
          <p:cNvSpPr/>
          <p:nvPr/>
        </p:nvSpPr>
        <p:spPr>
          <a:xfrm>
            <a:off x="868680" y="3886200"/>
            <a:ext cx="2880360" cy="1005840"/>
          </a:xfrm>
          <a:prstGeom prst="rect">
            <a:avLst/>
          </a:prstGeom>
          <a:noFill/>
          <a:ln/>
        </p:spPr>
        <p:txBody>
          <a:bodyPr wrap="square" rtlCol="0" anchor="ctr"/>
          <a:lstStyle/>
          <a:p>
            <a:pPr marL="0" indent="0" algn="ctr">
              <a:lnSpc>
                <a:spcPts val="1500"/>
              </a:lnSpc>
              <a:buNone/>
            </a:pPr>
            <a:r>
              <a:rPr lang="en-US" sz="1150" dirty="0">
                <a:solidFill>
                  <a:srgbClr val="EDE0D3"/>
                </a:solidFill>
                <a:latin typeface="Calibri" pitchFamily="34" charset="0"/>
                <a:ea typeface="Calibri" pitchFamily="34" charset="-122"/>
                <a:cs typeface="Calibri" pitchFamily="34" charset="-120"/>
              </a:rPr>
              <a:t>Highest total sales and strong customer demand</a:t>
            </a:r>
            <a:endParaRPr lang="en-US" sz="1150" dirty="0"/>
          </a:p>
        </p:txBody>
      </p:sp>
      <p:sp>
        <p:nvSpPr>
          <p:cNvPr id="10" name="Text 8"/>
          <p:cNvSpPr/>
          <p:nvPr/>
        </p:nvSpPr>
        <p:spPr>
          <a:xfrm>
            <a:off x="731520" y="5120640"/>
            <a:ext cx="3154680" cy="457200"/>
          </a:xfrm>
          <a:prstGeom prst="rect">
            <a:avLst/>
          </a:prstGeom>
          <a:noFill/>
          <a:ln/>
        </p:spPr>
        <p:txBody>
          <a:bodyPr wrap="square" rtlCol="0" anchor="ctr"/>
          <a:lstStyle/>
          <a:p>
            <a:pPr marL="0" indent="0" algn="ctr">
              <a:buNone/>
            </a:pPr>
            <a:r>
              <a:rPr lang="en-US" sz="1500" b="1" dirty="0">
                <a:solidFill>
                  <a:srgbClr val="C08552"/>
                </a:solidFill>
                <a:latin typeface="Cambria" pitchFamily="34" charset="0"/>
                <a:ea typeface="Cambria" pitchFamily="34" charset="-122"/>
                <a:cs typeface="Cambria" pitchFamily="34" charset="-120"/>
              </a:rPr>
              <a:t>₹12.58L revenue</a:t>
            </a:r>
            <a:endParaRPr lang="en-US" sz="1500" dirty="0"/>
          </a:p>
        </p:txBody>
      </p:sp>
      <p:sp>
        <p:nvSpPr>
          <p:cNvPr id="11" name="Shape 9"/>
          <p:cNvSpPr/>
          <p:nvPr/>
        </p:nvSpPr>
        <p:spPr>
          <a:xfrm>
            <a:off x="4389120" y="1691640"/>
            <a:ext cx="3520440" cy="4114800"/>
          </a:xfrm>
          <a:prstGeom prst="roundRect">
            <a:avLst>
              <a:gd name="adj" fmla="val 2597"/>
            </a:avLst>
          </a:prstGeom>
          <a:solidFill>
            <a:srgbClr val="3C2A21"/>
          </a:solidFill>
          <a:ln/>
          <a:effectLst>
            <a:outerShdw blurRad="101600" dist="38100" dir="5400000" algn="bl" rotWithShape="0">
              <a:srgbClr val="3C2A21">
                <a:alpha val="20000"/>
              </a:srgbClr>
            </a:outerShdw>
          </a:effectLst>
        </p:spPr>
        <p:txBody>
          <a:bodyPr/>
          <a:lstStyle/>
          <a:p>
            <a:endParaRPr lang="en-GB"/>
          </a:p>
        </p:txBody>
      </p:sp>
      <p:sp>
        <p:nvSpPr>
          <p:cNvPr id="12" name="Shape 10"/>
          <p:cNvSpPr/>
          <p:nvPr/>
        </p:nvSpPr>
        <p:spPr>
          <a:xfrm>
            <a:off x="5692140" y="2011680"/>
            <a:ext cx="914400" cy="914400"/>
          </a:xfrm>
          <a:prstGeom prst="ellipse">
            <a:avLst/>
          </a:prstGeom>
          <a:solidFill>
            <a:srgbClr val="C08552"/>
          </a:solidFill>
          <a:ln/>
        </p:spPr>
        <p:txBody>
          <a:bodyPr/>
          <a:lstStyle/>
          <a:p>
            <a:endParaRPr lang="en-GB"/>
          </a:p>
        </p:txBody>
      </p:sp>
      <p:sp>
        <p:nvSpPr>
          <p:cNvPr id="13" name="Text 11"/>
          <p:cNvSpPr/>
          <p:nvPr/>
        </p:nvSpPr>
        <p:spPr>
          <a:xfrm>
            <a:off x="5692140" y="2011680"/>
            <a:ext cx="914400" cy="9144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4" name="Text 12"/>
          <p:cNvSpPr/>
          <p:nvPr/>
        </p:nvSpPr>
        <p:spPr>
          <a:xfrm>
            <a:off x="4572000" y="3108960"/>
            <a:ext cx="3154680" cy="5029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Chennai</a:t>
            </a:r>
            <a:endParaRPr lang="en-US" sz="2200" dirty="0"/>
          </a:p>
        </p:txBody>
      </p:sp>
      <p:sp>
        <p:nvSpPr>
          <p:cNvPr id="15" name="Shape 13"/>
          <p:cNvSpPr/>
          <p:nvPr/>
        </p:nvSpPr>
        <p:spPr>
          <a:xfrm>
            <a:off x="5692140" y="3703320"/>
            <a:ext cx="914400" cy="0"/>
          </a:xfrm>
          <a:prstGeom prst="line">
            <a:avLst/>
          </a:prstGeom>
          <a:noFill/>
          <a:ln w="19050">
            <a:solidFill>
              <a:srgbClr val="C08552"/>
            </a:solidFill>
            <a:prstDash val="solid"/>
          </a:ln>
        </p:spPr>
        <p:txBody>
          <a:bodyPr/>
          <a:lstStyle/>
          <a:p>
            <a:endParaRPr lang="en-GB"/>
          </a:p>
        </p:txBody>
      </p:sp>
      <p:sp>
        <p:nvSpPr>
          <p:cNvPr id="16" name="Text 14"/>
          <p:cNvSpPr/>
          <p:nvPr/>
        </p:nvSpPr>
        <p:spPr>
          <a:xfrm>
            <a:off x="4709160" y="3886200"/>
            <a:ext cx="2880360" cy="1005840"/>
          </a:xfrm>
          <a:prstGeom prst="rect">
            <a:avLst/>
          </a:prstGeom>
          <a:noFill/>
          <a:ln/>
        </p:spPr>
        <p:txBody>
          <a:bodyPr wrap="square" rtlCol="0" anchor="ctr"/>
          <a:lstStyle/>
          <a:p>
            <a:pPr marL="0" indent="0" algn="ctr">
              <a:lnSpc>
                <a:spcPts val="1500"/>
              </a:lnSpc>
              <a:buNone/>
            </a:pPr>
            <a:r>
              <a:rPr lang="en-US" sz="1150" dirty="0">
                <a:solidFill>
                  <a:srgbClr val="EDE0D3"/>
                </a:solidFill>
                <a:latin typeface="Calibri" pitchFamily="34" charset="0"/>
                <a:ea typeface="Calibri" pitchFamily="34" charset="-122"/>
                <a:cs typeface="Calibri" pitchFamily="34" charset="-120"/>
              </a:rPr>
              <a:t>High order volume and consistent sales growth</a:t>
            </a:r>
            <a:endParaRPr lang="en-US" sz="1150" dirty="0"/>
          </a:p>
        </p:txBody>
      </p:sp>
      <p:sp>
        <p:nvSpPr>
          <p:cNvPr id="17" name="Text 15"/>
          <p:cNvSpPr/>
          <p:nvPr/>
        </p:nvSpPr>
        <p:spPr>
          <a:xfrm>
            <a:off x="4572000" y="5120640"/>
            <a:ext cx="3154680" cy="457200"/>
          </a:xfrm>
          <a:prstGeom prst="rect">
            <a:avLst/>
          </a:prstGeom>
          <a:noFill/>
          <a:ln/>
        </p:spPr>
        <p:txBody>
          <a:bodyPr wrap="square" rtlCol="0" anchor="ctr"/>
          <a:lstStyle/>
          <a:p>
            <a:pPr marL="0" indent="0" algn="ctr">
              <a:buNone/>
            </a:pPr>
            <a:r>
              <a:rPr lang="en-US" sz="1500" b="1" dirty="0">
                <a:solidFill>
                  <a:srgbClr val="C08552"/>
                </a:solidFill>
                <a:latin typeface="Cambria" pitchFamily="34" charset="0"/>
                <a:ea typeface="Cambria" pitchFamily="34" charset="-122"/>
                <a:cs typeface="Cambria" pitchFamily="34" charset="-120"/>
              </a:rPr>
              <a:t>₹9.44L revenue</a:t>
            </a:r>
            <a:endParaRPr lang="en-US" sz="1500" dirty="0"/>
          </a:p>
        </p:txBody>
      </p:sp>
      <p:sp>
        <p:nvSpPr>
          <p:cNvPr id="18" name="Shape 16"/>
          <p:cNvSpPr/>
          <p:nvPr/>
        </p:nvSpPr>
        <p:spPr>
          <a:xfrm>
            <a:off x="8229600" y="1691640"/>
            <a:ext cx="3520440" cy="4114800"/>
          </a:xfrm>
          <a:prstGeom prst="roundRect">
            <a:avLst>
              <a:gd name="adj" fmla="val 2597"/>
            </a:avLst>
          </a:prstGeom>
          <a:solidFill>
            <a:srgbClr val="3C2A21"/>
          </a:solidFill>
          <a:ln/>
          <a:effectLst>
            <a:outerShdw blurRad="101600" dist="38100" dir="5400000" algn="bl" rotWithShape="0">
              <a:srgbClr val="3C2A21">
                <a:alpha val="20000"/>
              </a:srgbClr>
            </a:outerShdw>
          </a:effectLst>
        </p:spPr>
        <p:txBody>
          <a:bodyPr/>
          <a:lstStyle/>
          <a:p>
            <a:endParaRPr lang="en-GB"/>
          </a:p>
        </p:txBody>
      </p:sp>
      <p:sp>
        <p:nvSpPr>
          <p:cNvPr id="19" name="Shape 17"/>
          <p:cNvSpPr/>
          <p:nvPr/>
        </p:nvSpPr>
        <p:spPr>
          <a:xfrm>
            <a:off x="9532620" y="2011680"/>
            <a:ext cx="914400" cy="914400"/>
          </a:xfrm>
          <a:prstGeom prst="ellipse">
            <a:avLst/>
          </a:prstGeom>
          <a:solidFill>
            <a:srgbClr val="C08552"/>
          </a:solidFill>
          <a:ln/>
        </p:spPr>
        <p:txBody>
          <a:bodyPr/>
          <a:lstStyle/>
          <a:p>
            <a:endParaRPr lang="en-GB"/>
          </a:p>
        </p:txBody>
      </p:sp>
      <p:sp>
        <p:nvSpPr>
          <p:cNvPr id="20" name="Text 18"/>
          <p:cNvSpPr/>
          <p:nvPr/>
        </p:nvSpPr>
        <p:spPr>
          <a:xfrm>
            <a:off x="9532620" y="2011680"/>
            <a:ext cx="914400" cy="9144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1" name="Text 19"/>
          <p:cNvSpPr/>
          <p:nvPr/>
        </p:nvSpPr>
        <p:spPr>
          <a:xfrm>
            <a:off x="8412480" y="3108960"/>
            <a:ext cx="3154680" cy="5029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Bangalore</a:t>
            </a:r>
            <a:endParaRPr lang="en-US" sz="2200" dirty="0"/>
          </a:p>
        </p:txBody>
      </p:sp>
      <p:sp>
        <p:nvSpPr>
          <p:cNvPr id="22" name="Shape 20"/>
          <p:cNvSpPr/>
          <p:nvPr/>
        </p:nvSpPr>
        <p:spPr>
          <a:xfrm>
            <a:off x="9532620" y="3703320"/>
            <a:ext cx="914400" cy="0"/>
          </a:xfrm>
          <a:prstGeom prst="line">
            <a:avLst/>
          </a:prstGeom>
          <a:noFill/>
          <a:ln w="19050">
            <a:solidFill>
              <a:srgbClr val="C08552"/>
            </a:solidFill>
            <a:prstDash val="solid"/>
          </a:ln>
        </p:spPr>
        <p:txBody>
          <a:bodyPr/>
          <a:lstStyle/>
          <a:p>
            <a:endParaRPr lang="en-GB"/>
          </a:p>
        </p:txBody>
      </p:sp>
      <p:sp>
        <p:nvSpPr>
          <p:cNvPr id="23" name="Text 21"/>
          <p:cNvSpPr/>
          <p:nvPr/>
        </p:nvSpPr>
        <p:spPr>
          <a:xfrm>
            <a:off x="8549640" y="3886200"/>
            <a:ext cx="2880360" cy="1005840"/>
          </a:xfrm>
          <a:prstGeom prst="rect">
            <a:avLst/>
          </a:prstGeom>
          <a:noFill/>
          <a:ln/>
        </p:spPr>
        <p:txBody>
          <a:bodyPr wrap="square" rtlCol="0" anchor="ctr"/>
          <a:lstStyle/>
          <a:p>
            <a:pPr marL="0" indent="0" algn="ctr">
              <a:lnSpc>
                <a:spcPts val="1500"/>
              </a:lnSpc>
              <a:buNone/>
            </a:pPr>
            <a:r>
              <a:rPr lang="en-US" sz="1150" dirty="0">
                <a:solidFill>
                  <a:srgbClr val="EDE0D3"/>
                </a:solidFill>
                <a:latin typeface="Calibri" pitchFamily="34" charset="0"/>
                <a:ea typeface="Calibri" pitchFamily="34" charset="-122"/>
                <a:cs typeface="Calibri" pitchFamily="34" charset="-120"/>
              </a:rPr>
              <a:t>Strong customer engagement and high revenue potential</a:t>
            </a:r>
            <a:endParaRPr lang="en-US" sz="1150" dirty="0"/>
          </a:p>
        </p:txBody>
      </p:sp>
      <p:sp>
        <p:nvSpPr>
          <p:cNvPr id="24" name="Text 22"/>
          <p:cNvSpPr/>
          <p:nvPr/>
        </p:nvSpPr>
        <p:spPr>
          <a:xfrm>
            <a:off x="8412480" y="5120640"/>
            <a:ext cx="3154680" cy="457200"/>
          </a:xfrm>
          <a:prstGeom prst="rect">
            <a:avLst/>
          </a:prstGeom>
          <a:noFill/>
          <a:ln/>
        </p:spPr>
        <p:txBody>
          <a:bodyPr wrap="square" rtlCol="0" anchor="ctr"/>
          <a:lstStyle/>
          <a:p>
            <a:pPr marL="0" indent="0" algn="ctr">
              <a:buNone/>
            </a:pPr>
            <a:r>
              <a:rPr lang="en-US" sz="1500" b="1" dirty="0">
                <a:solidFill>
                  <a:srgbClr val="C08552"/>
                </a:solidFill>
                <a:latin typeface="Cambria" pitchFamily="34" charset="0"/>
                <a:ea typeface="Cambria" pitchFamily="34" charset="-122"/>
                <a:cs typeface="Cambria" pitchFamily="34" charset="-120"/>
              </a:rPr>
              <a:t>₹8.60L revenue</a:t>
            </a:r>
            <a:endParaRPr lang="en-US" sz="1500" dirty="0"/>
          </a:p>
        </p:txBody>
      </p:sp>
      <p:sp>
        <p:nvSpPr>
          <p:cNvPr id="25" name="Text 23"/>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8A7B6C"/>
                </a:solidFill>
                <a:latin typeface="Calibri" pitchFamily="34" charset="0"/>
                <a:ea typeface="Calibri" pitchFamily="34" charset="-122"/>
                <a:cs typeface="Calibri" pitchFamily="34" charset="-120"/>
              </a:rPr>
              <a:t>Business Expansion Report  |  Coffee Shop Market Analysis</a:t>
            </a:r>
            <a:endParaRPr lang="en-US" sz="900" dirty="0"/>
          </a:p>
        </p:txBody>
      </p:sp>
      <p:sp>
        <p:nvSpPr>
          <p:cNvPr id="26" name="Text 2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8A7B6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2A1D17"/>
                </a:solidFill>
                <a:latin typeface="Cambria" pitchFamily="34" charset="0"/>
                <a:ea typeface="Cambria" pitchFamily="34" charset="-122"/>
                <a:cs typeface="Cambria" pitchFamily="34" charset="-120"/>
              </a:rPr>
              <a:t>Why These Three Cities</a:t>
            </a:r>
            <a:endParaRPr lang="en-US" sz="3000" dirty="0"/>
          </a:p>
        </p:txBody>
      </p:sp>
      <p:sp>
        <p:nvSpPr>
          <p:cNvPr id="3" name="Text 1"/>
          <p:cNvSpPr/>
          <p:nvPr/>
        </p:nvSpPr>
        <p:spPr>
          <a:xfrm>
            <a:off x="548640" y="987552"/>
            <a:ext cx="11091672" cy="365760"/>
          </a:xfrm>
          <a:prstGeom prst="rect">
            <a:avLst/>
          </a:prstGeom>
          <a:noFill/>
          <a:ln/>
        </p:spPr>
        <p:txBody>
          <a:bodyPr wrap="square" rtlCol="0" anchor="ctr"/>
          <a:lstStyle/>
          <a:p>
            <a:pPr marL="0" indent="0">
              <a:buNone/>
            </a:pPr>
            <a:r>
              <a:rPr lang="en-US" sz="1300" i="1" dirty="0">
                <a:solidFill>
                  <a:srgbClr val="8A7B6C"/>
                </a:solidFill>
                <a:latin typeface="Calibri" pitchFamily="34" charset="0"/>
                <a:ea typeface="Calibri" pitchFamily="34" charset="-122"/>
                <a:cs typeface="Calibri" pitchFamily="34" charset="-120"/>
              </a:rPr>
              <a:t>Pune, Chennai and Bangalore lead the market on every metric that matters</a:t>
            </a:r>
            <a:endParaRPr lang="en-US" sz="1300" dirty="0"/>
          </a:p>
        </p:txBody>
      </p:sp>
      <p:graphicFrame>
        <p:nvGraphicFramePr>
          <p:cNvPr id="4" name="Chart 0"/>
          <p:cNvGraphicFramePr/>
          <p:nvPr/>
        </p:nvGraphicFramePr>
        <p:xfrm>
          <a:off x="457200" y="1691640"/>
          <a:ext cx="630936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040880" y="1691640"/>
            <a:ext cx="4617720" cy="4023360"/>
          </a:xfrm>
          <a:prstGeom prst="roundRect">
            <a:avLst>
              <a:gd name="adj" fmla="val 1818"/>
            </a:avLst>
          </a:prstGeom>
          <a:solidFill>
            <a:srgbClr val="FFFFFF"/>
          </a:solidFill>
          <a:ln w="12700">
            <a:solidFill>
              <a:srgbClr val="E4D5C3"/>
            </a:solidFill>
            <a:prstDash val="solid"/>
          </a:ln>
          <a:effectLst>
            <a:outerShdw blurRad="76200" dist="25400" dir="5400000" algn="bl" rotWithShape="0">
              <a:srgbClr val="3C2A21">
                <a:alpha val="10000"/>
              </a:srgbClr>
            </a:outerShdw>
          </a:effectLst>
        </p:spPr>
        <p:txBody>
          <a:bodyPr/>
          <a:lstStyle/>
          <a:p>
            <a:endParaRPr lang="en-GB"/>
          </a:p>
        </p:txBody>
      </p:sp>
      <p:sp>
        <p:nvSpPr>
          <p:cNvPr id="6" name="Text 3"/>
          <p:cNvSpPr/>
          <p:nvPr/>
        </p:nvSpPr>
        <p:spPr>
          <a:xfrm>
            <a:off x="7269480" y="1874520"/>
            <a:ext cx="4160520" cy="365760"/>
          </a:xfrm>
          <a:prstGeom prst="rect">
            <a:avLst/>
          </a:prstGeom>
          <a:noFill/>
          <a:ln/>
        </p:spPr>
        <p:txBody>
          <a:bodyPr wrap="square" rtlCol="0" anchor="ctr"/>
          <a:lstStyle/>
          <a:p>
            <a:pPr marL="0" indent="0">
              <a:buNone/>
            </a:pPr>
            <a:r>
              <a:rPr lang="en-US" sz="1400" b="1" dirty="0">
                <a:solidFill>
                  <a:srgbClr val="2A1D17"/>
                </a:solidFill>
                <a:latin typeface="Cambria" pitchFamily="34" charset="0"/>
                <a:ea typeface="Cambria" pitchFamily="34" charset="-122"/>
                <a:cs typeface="Cambria" pitchFamily="34" charset="-120"/>
              </a:rPr>
              <a:t>Snapshot: Pune · Chennai · Bangalore</a:t>
            </a:r>
            <a:endParaRPr lang="en-US" sz="1400" dirty="0"/>
          </a:p>
        </p:txBody>
      </p:sp>
      <p:sp>
        <p:nvSpPr>
          <p:cNvPr id="7" name="Text 4"/>
          <p:cNvSpPr/>
          <p:nvPr/>
        </p:nvSpPr>
        <p:spPr>
          <a:xfrm>
            <a:off x="7269480" y="2331720"/>
            <a:ext cx="1737360" cy="274320"/>
          </a:xfrm>
          <a:prstGeom prst="rect">
            <a:avLst/>
          </a:prstGeom>
          <a:noFill/>
          <a:ln/>
        </p:spPr>
        <p:txBody>
          <a:bodyPr wrap="square" rtlCol="0" anchor="ctr"/>
          <a:lstStyle/>
          <a:p>
            <a:pPr marL="0" indent="0">
              <a:buNone/>
            </a:pPr>
            <a:r>
              <a:rPr lang="en-US" sz="950" b="1" dirty="0">
                <a:solidFill>
                  <a:srgbClr val="8A7B6C"/>
                </a:solidFill>
                <a:latin typeface="Calibri" pitchFamily="34" charset="0"/>
                <a:ea typeface="Calibri" pitchFamily="34" charset="-122"/>
                <a:cs typeface="Calibri" pitchFamily="34" charset="-120"/>
              </a:rPr>
              <a:t>Metric</a:t>
            </a:r>
            <a:endParaRPr lang="en-US" sz="950" dirty="0"/>
          </a:p>
        </p:txBody>
      </p:sp>
      <p:sp>
        <p:nvSpPr>
          <p:cNvPr id="8" name="Text 5"/>
          <p:cNvSpPr/>
          <p:nvPr/>
        </p:nvSpPr>
        <p:spPr>
          <a:xfrm>
            <a:off x="9052560" y="2331720"/>
            <a:ext cx="868680" cy="274320"/>
          </a:xfrm>
          <a:prstGeom prst="rect">
            <a:avLst/>
          </a:prstGeom>
          <a:noFill/>
          <a:ln/>
        </p:spPr>
        <p:txBody>
          <a:bodyPr wrap="square" rtlCol="0" anchor="ctr"/>
          <a:lstStyle/>
          <a:p>
            <a:pPr marL="0" indent="0">
              <a:buNone/>
            </a:pPr>
            <a:r>
              <a:rPr lang="en-US" sz="950" b="1" dirty="0">
                <a:solidFill>
                  <a:srgbClr val="8A7B6C"/>
                </a:solidFill>
                <a:latin typeface="Calibri" pitchFamily="34" charset="0"/>
                <a:ea typeface="Calibri" pitchFamily="34" charset="-122"/>
                <a:cs typeface="Calibri" pitchFamily="34" charset="-120"/>
              </a:rPr>
              <a:t>Pune</a:t>
            </a:r>
            <a:endParaRPr lang="en-US" sz="950" dirty="0"/>
          </a:p>
        </p:txBody>
      </p:sp>
      <p:sp>
        <p:nvSpPr>
          <p:cNvPr id="9" name="Text 6"/>
          <p:cNvSpPr/>
          <p:nvPr/>
        </p:nvSpPr>
        <p:spPr>
          <a:xfrm>
            <a:off x="9921240" y="2331720"/>
            <a:ext cx="868680" cy="274320"/>
          </a:xfrm>
          <a:prstGeom prst="rect">
            <a:avLst/>
          </a:prstGeom>
          <a:noFill/>
          <a:ln/>
        </p:spPr>
        <p:txBody>
          <a:bodyPr wrap="square" rtlCol="0" anchor="ctr"/>
          <a:lstStyle/>
          <a:p>
            <a:pPr marL="0" indent="0">
              <a:buNone/>
            </a:pPr>
            <a:r>
              <a:rPr lang="en-US" sz="950" b="1" dirty="0">
                <a:solidFill>
                  <a:srgbClr val="8A7B6C"/>
                </a:solidFill>
                <a:latin typeface="Calibri" pitchFamily="34" charset="0"/>
                <a:ea typeface="Calibri" pitchFamily="34" charset="-122"/>
                <a:cs typeface="Calibri" pitchFamily="34" charset="-120"/>
              </a:rPr>
              <a:t>Chn.</a:t>
            </a:r>
            <a:endParaRPr lang="en-US" sz="950" dirty="0"/>
          </a:p>
        </p:txBody>
      </p:sp>
      <p:sp>
        <p:nvSpPr>
          <p:cNvPr id="10" name="Text 7"/>
          <p:cNvSpPr/>
          <p:nvPr/>
        </p:nvSpPr>
        <p:spPr>
          <a:xfrm>
            <a:off x="10789920" y="2331720"/>
            <a:ext cx="868680" cy="274320"/>
          </a:xfrm>
          <a:prstGeom prst="rect">
            <a:avLst/>
          </a:prstGeom>
          <a:noFill/>
          <a:ln/>
        </p:spPr>
        <p:txBody>
          <a:bodyPr wrap="square" rtlCol="0" anchor="ctr"/>
          <a:lstStyle/>
          <a:p>
            <a:pPr marL="0" indent="0">
              <a:buNone/>
            </a:pPr>
            <a:r>
              <a:rPr lang="en-US" sz="950" b="1" dirty="0">
                <a:solidFill>
                  <a:srgbClr val="8A7B6C"/>
                </a:solidFill>
                <a:latin typeface="Calibri" pitchFamily="34" charset="0"/>
                <a:ea typeface="Calibri" pitchFamily="34" charset="-122"/>
                <a:cs typeface="Calibri" pitchFamily="34" charset="-120"/>
              </a:rPr>
              <a:t>Blr.</a:t>
            </a:r>
            <a:endParaRPr lang="en-US" sz="950" dirty="0"/>
          </a:p>
        </p:txBody>
      </p:sp>
      <p:sp>
        <p:nvSpPr>
          <p:cNvPr id="11" name="Shape 8"/>
          <p:cNvSpPr/>
          <p:nvPr/>
        </p:nvSpPr>
        <p:spPr>
          <a:xfrm>
            <a:off x="7269480" y="2606040"/>
            <a:ext cx="4160520" cy="0"/>
          </a:xfrm>
          <a:prstGeom prst="line">
            <a:avLst/>
          </a:prstGeom>
          <a:noFill/>
          <a:ln w="12700">
            <a:solidFill>
              <a:srgbClr val="E4D5C3"/>
            </a:solidFill>
            <a:prstDash val="solid"/>
          </a:ln>
        </p:spPr>
        <p:txBody>
          <a:bodyPr/>
          <a:lstStyle/>
          <a:p>
            <a:endParaRPr lang="en-GB"/>
          </a:p>
        </p:txBody>
      </p:sp>
      <p:sp>
        <p:nvSpPr>
          <p:cNvPr id="12" name="Text 9"/>
          <p:cNvSpPr/>
          <p:nvPr/>
        </p:nvSpPr>
        <p:spPr>
          <a:xfrm>
            <a:off x="7269480" y="2697480"/>
            <a:ext cx="1737360" cy="365760"/>
          </a:xfrm>
          <a:prstGeom prst="rect">
            <a:avLst/>
          </a:prstGeom>
          <a:noFill/>
          <a:ln/>
        </p:spPr>
        <p:txBody>
          <a:bodyPr wrap="square" rtlCol="0" anchor="ctr"/>
          <a:lstStyle/>
          <a:p>
            <a:pPr marL="0" indent="0">
              <a:buNone/>
            </a:pPr>
            <a:r>
              <a:rPr lang="en-US" sz="950" b="1" dirty="0">
                <a:solidFill>
                  <a:srgbClr val="2A1D17"/>
                </a:solidFill>
                <a:latin typeface="Calibri" pitchFamily="34" charset="0"/>
                <a:ea typeface="Calibri" pitchFamily="34" charset="-122"/>
                <a:cs typeface="Calibri" pitchFamily="34" charset="-120"/>
              </a:rPr>
              <a:t>Orders placed</a:t>
            </a:r>
            <a:endParaRPr lang="en-US" sz="950" dirty="0"/>
          </a:p>
        </p:txBody>
      </p:sp>
      <p:sp>
        <p:nvSpPr>
          <p:cNvPr id="13" name="Text 10"/>
          <p:cNvSpPr/>
          <p:nvPr/>
        </p:nvSpPr>
        <p:spPr>
          <a:xfrm>
            <a:off x="9052560" y="2697480"/>
            <a:ext cx="868680" cy="365760"/>
          </a:xfrm>
          <a:prstGeom prst="rect">
            <a:avLst/>
          </a:prstGeom>
          <a:noFill/>
          <a:ln/>
        </p:spPr>
        <p:txBody>
          <a:bodyPr wrap="square" rtlCol="0" anchor="ctr"/>
          <a:lstStyle/>
          <a:p>
            <a:pPr marL="0" indent="0">
              <a:buNone/>
            </a:pPr>
            <a:r>
              <a:rPr lang="en-US" sz="950" dirty="0">
                <a:solidFill>
                  <a:srgbClr val="6F4E37"/>
                </a:solidFill>
                <a:latin typeface="Calibri" pitchFamily="34" charset="0"/>
                <a:ea typeface="Calibri" pitchFamily="34" charset="-122"/>
                <a:cs typeface="Calibri" pitchFamily="34" charset="-120"/>
              </a:rPr>
              <a:t>2,135</a:t>
            </a:r>
            <a:endParaRPr lang="en-US" sz="950" dirty="0"/>
          </a:p>
        </p:txBody>
      </p:sp>
      <p:sp>
        <p:nvSpPr>
          <p:cNvPr id="14" name="Text 11"/>
          <p:cNvSpPr/>
          <p:nvPr/>
        </p:nvSpPr>
        <p:spPr>
          <a:xfrm>
            <a:off x="9921240" y="2697480"/>
            <a:ext cx="868680" cy="365760"/>
          </a:xfrm>
          <a:prstGeom prst="rect">
            <a:avLst/>
          </a:prstGeom>
          <a:noFill/>
          <a:ln/>
        </p:spPr>
        <p:txBody>
          <a:bodyPr wrap="square" rtlCol="0" anchor="ctr"/>
          <a:lstStyle/>
          <a:p>
            <a:pPr marL="0" indent="0">
              <a:buNone/>
            </a:pPr>
            <a:r>
              <a:rPr lang="en-US" sz="950" dirty="0">
                <a:solidFill>
                  <a:srgbClr val="6F4E37"/>
                </a:solidFill>
                <a:latin typeface="Calibri" pitchFamily="34" charset="0"/>
                <a:ea typeface="Calibri" pitchFamily="34" charset="-122"/>
                <a:cs typeface="Calibri" pitchFamily="34" charset="-120"/>
              </a:rPr>
              <a:t>1,601</a:t>
            </a:r>
            <a:endParaRPr lang="en-US" sz="950" dirty="0"/>
          </a:p>
        </p:txBody>
      </p:sp>
      <p:sp>
        <p:nvSpPr>
          <p:cNvPr id="15" name="Text 12"/>
          <p:cNvSpPr/>
          <p:nvPr/>
        </p:nvSpPr>
        <p:spPr>
          <a:xfrm>
            <a:off x="10789920" y="2697480"/>
            <a:ext cx="868680" cy="365760"/>
          </a:xfrm>
          <a:prstGeom prst="rect">
            <a:avLst/>
          </a:prstGeom>
          <a:noFill/>
          <a:ln/>
        </p:spPr>
        <p:txBody>
          <a:bodyPr wrap="square" rtlCol="0" anchor="ctr"/>
          <a:lstStyle/>
          <a:p>
            <a:pPr marL="0" indent="0">
              <a:buNone/>
            </a:pPr>
            <a:r>
              <a:rPr lang="en-US" sz="950" dirty="0">
                <a:solidFill>
                  <a:srgbClr val="6F4E37"/>
                </a:solidFill>
                <a:latin typeface="Calibri" pitchFamily="34" charset="0"/>
                <a:ea typeface="Calibri" pitchFamily="34" charset="-122"/>
                <a:cs typeface="Calibri" pitchFamily="34" charset="-120"/>
              </a:rPr>
              <a:t>1,464</a:t>
            </a:r>
            <a:endParaRPr lang="en-US" sz="950" dirty="0"/>
          </a:p>
        </p:txBody>
      </p:sp>
      <p:sp>
        <p:nvSpPr>
          <p:cNvPr id="16" name="Text 13"/>
          <p:cNvSpPr/>
          <p:nvPr/>
        </p:nvSpPr>
        <p:spPr>
          <a:xfrm>
            <a:off x="7269480" y="3081528"/>
            <a:ext cx="1737360" cy="365760"/>
          </a:xfrm>
          <a:prstGeom prst="rect">
            <a:avLst/>
          </a:prstGeom>
          <a:noFill/>
          <a:ln/>
        </p:spPr>
        <p:txBody>
          <a:bodyPr wrap="square" rtlCol="0" anchor="ctr"/>
          <a:lstStyle/>
          <a:p>
            <a:pPr marL="0" indent="0">
              <a:buNone/>
            </a:pPr>
            <a:r>
              <a:rPr lang="en-US" sz="950" b="1" dirty="0">
                <a:solidFill>
                  <a:srgbClr val="2A1D17"/>
                </a:solidFill>
                <a:latin typeface="Calibri" pitchFamily="34" charset="0"/>
                <a:ea typeface="Calibri" pitchFamily="34" charset="-122"/>
                <a:cs typeface="Calibri" pitchFamily="34" charset="-120"/>
              </a:rPr>
              <a:t>Active customers</a:t>
            </a:r>
            <a:endParaRPr lang="en-US" sz="950" dirty="0"/>
          </a:p>
        </p:txBody>
      </p:sp>
      <p:sp>
        <p:nvSpPr>
          <p:cNvPr id="17" name="Text 14"/>
          <p:cNvSpPr/>
          <p:nvPr/>
        </p:nvSpPr>
        <p:spPr>
          <a:xfrm>
            <a:off x="9052560" y="3081528"/>
            <a:ext cx="868680" cy="365760"/>
          </a:xfrm>
          <a:prstGeom prst="rect">
            <a:avLst/>
          </a:prstGeom>
          <a:noFill/>
          <a:ln/>
        </p:spPr>
        <p:txBody>
          <a:bodyPr wrap="square" rtlCol="0" anchor="ctr"/>
          <a:lstStyle/>
          <a:p>
            <a:pPr marL="0" indent="0">
              <a:buNone/>
            </a:pPr>
            <a:r>
              <a:rPr lang="en-US" sz="950" dirty="0">
                <a:solidFill>
                  <a:srgbClr val="6F4E37"/>
                </a:solidFill>
                <a:latin typeface="Calibri" pitchFamily="34" charset="0"/>
                <a:ea typeface="Calibri" pitchFamily="34" charset="-122"/>
                <a:cs typeface="Calibri" pitchFamily="34" charset="-120"/>
              </a:rPr>
              <a:t>52</a:t>
            </a:r>
            <a:endParaRPr lang="en-US" sz="950" dirty="0"/>
          </a:p>
        </p:txBody>
      </p:sp>
      <p:sp>
        <p:nvSpPr>
          <p:cNvPr id="18" name="Text 15"/>
          <p:cNvSpPr/>
          <p:nvPr/>
        </p:nvSpPr>
        <p:spPr>
          <a:xfrm>
            <a:off x="9921240" y="3081528"/>
            <a:ext cx="868680" cy="365760"/>
          </a:xfrm>
          <a:prstGeom prst="rect">
            <a:avLst/>
          </a:prstGeom>
          <a:noFill/>
          <a:ln/>
        </p:spPr>
        <p:txBody>
          <a:bodyPr wrap="square" rtlCol="0" anchor="ctr"/>
          <a:lstStyle/>
          <a:p>
            <a:pPr marL="0" indent="0">
              <a:buNone/>
            </a:pPr>
            <a:r>
              <a:rPr lang="en-US" sz="950" dirty="0">
                <a:solidFill>
                  <a:srgbClr val="6F4E37"/>
                </a:solidFill>
                <a:latin typeface="Calibri" pitchFamily="34" charset="0"/>
                <a:ea typeface="Calibri" pitchFamily="34" charset="-122"/>
                <a:cs typeface="Calibri" pitchFamily="34" charset="-120"/>
              </a:rPr>
              <a:t>42</a:t>
            </a:r>
            <a:endParaRPr lang="en-US" sz="950" dirty="0"/>
          </a:p>
        </p:txBody>
      </p:sp>
      <p:sp>
        <p:nvSpPr>
          <p:cNvPr id="19" name="Text 16"/>
          <p:cNvSpPr/>
          <p:nvPr/>
        </p:nvSpPr>
        <p:spPr>
          <a:xfrm>
            <a:off x="10789920" y="3081528"/>
            <a:ext cx="868680" cy="365760"/>
          </a:xfrm>
          <a:prstGeom prst="rect">
            <a:avLst/>
          </a:prstGeom>
          <a:noFill/>
          <a:ln/>
        </p:spPr>
        <p:txBody>
          <a:bodyPr wrap="square" rtlCol="0" anchor="ctr"/>
          <a:lstStyle/>
          <a:p>
            <a:pPr marL="0" indent="0">
              <a:buNone/>
            </a:pPr>
            <a:r>
              <a:rPr lang="en-US" sz="950" dirty="0">
                <a:solidFill>
                  <a:srgbClr val="6F4E37"/>
                </a:solidFill>
                <a:latin typeface="Calibri" pitchFamily="34" charset="0"/>
                <a:ea typeface="Calibri" pitchFamily="34" charset="-122"/>
                <a:cs typeface="Calibri" pitchFamily="34" charset="-120"/>
              </a:rPr>
              <a:t>39</a:t>
            </a:r>
            <a:endParaRPr lang="en-US" sz="950" dirty="0"/>
          </a:p>
        </p:txBody>
      </p:sp>
      <p:sp>
        <p:nvSpPr>
          <p:cNvPr id="20" name="Text 17"/>
          <p:cNvSpPr/>
          <p:nvPr/>
        </p:nvSpPr>
        <p:spPr>
          <a:xfrm>
            <a:off x="7269480" y="3465576"/>
            <a:ext cx="1737360" cy="365760"/>
          </a:xfrm>
          <a:prstGeom prst="rect">
            <a:avLst/>
          </a:prstGeom>
          <a:noFill/>
          <a:ln/>
        </p:spPr>
        <p:txBody>
          <a:bodyPr wrap="square" rtlCol="0" anchor="ctr"/>
          <a:lstStyle/>
          <a:p>
            <a:pPr marL="0" indent="0">
              <a:buNone/>
            </a:pPr>
            <a:r>
              <a:rPr lang="en-US" sz="950" b="1" dirty="0">
                <a:solidFill>
                  <a:srgbClr val="2A1D17"/>
                </a:solidFill>
                <a:latin typeface="Calibri" pitchFamily="34" charset="0"/>
                <a:ea typeface="Calibri" pitchFamily="34" charset="-122"/>
                <a:cs typeface="Calibri" pitchFamily="34" charset="-120"/>
              </a:rPr>
              <a:t>Avg. customer rating</a:t>
            </a:r>
            <a:endParaRPr lang="en-US" sz="950" dirty="0"/>
          </a:p>
        </p:txBody>
      </p:sp>
      <p:sp>
        <p:nvSpPr>
          <p:cNvPr id="21" name="Text 18"/>
          <p:cNvSpPr/>
          <p:nvPr/>
        </p:nvSpPr>
        <p:spPr>
          <a:xfrm>
            <a:off x="9052560" y="3465576"/>
            <a:ext cx="868680" cy="365760"/>
          </a:xfrm>
          <a:prstGeom prst="rect">
            <a:avLst/>
          </a:prstGeom>
          <a:noFill/>
          <a:ln/>
        </p:spPr>
        <p:txBody>
          <a:bodyPr wrap="square" rtlCol="0" anchor="ctr"/>
          <a:lstStyle/>
          <a:p>
            <a:pPr marL="0" indent="0">
              <a:buNone/>
            </a:pPr>
            <a:r>
              <a:rPr lang="en-US" sz="950" dirty="0">
                <a:solidFill>
                  <a:srgbClr val="6F4E37"/>
                </a:solidFill>
                <a:latin typeface="Calibri" pitchFamily="34" charset="0"/>
                <a:ea typeface="Calibri" pitchFamily="34" charset="-122"/>
                <a:cs typeface="Calibri" pitchFamily="34" charset="-120"/>
              </a:rPr>
              <a:t>4.47</a:t>
            </a:r>
            <a:endParaRPr lang="en-US" sz="950" dirty="0"/>
          </a:p>
        </p:txBody>
      </p:sp>
      <p:sp>
        <p:nvSpPr>
          <p:cNvPr id="22" name="Text 19"/>
          <p:cNvSpPr/>
          <p:nvPr/>
        </p:nvSpPr>
        <p:spPr>
          <a:xfrm>
            <a:off x="9921240" y="3465576"/>
            <a:ext cx="868680" cy="365760"/>
          </a:xfrm>
          <a:prstGeom prst="rect">
            <a:avLst/>
          </a:prstGeom>
          <a:noFill/>
          <a:ln/>
        </p:spPr>
        <p:txBody>
          <a:bodyPr wrap="square" rtlCol="0" anchor="ctr"/>
          <a:lstStyle/>
          <a:p>
            <a:pPr marL="0" indent="0">
              <a:buNone/>
            </a:pPr>
            <a:r>
              <a:rPr lang="en-US" sz="950" dirty="0">
                <a:solidFill>
                  <a:srgbClr val="6F4E37"/>
                </a:solidFill>
                <a:latin typeface="Calibri" pitchFamily="34" charset="0"/>
                <a:ea typeface="Calibri" pitchFamily="34" charset="-122"/>
                <a:cs typeface="Calibri" pitchFamily="34" charset="-120"/>
              </a:rPr>
              <a:t>4.52</a:t>
            </a:r>
            <a:endParaRPr lang="en-US" sz="950" dirty="0"/>
          </a:p>
        </p:txBody>
      </p:sp>
      <p:sp>
        <p:nvSpPr>
          <p:cNvPr id="23" name="Text 20"/>
          <p:cNvSpPr/>
          <p:nvPr/>
        </p:nvSpPr>
        <p:spPr>
          <a:xfrm>
            <a:off x="10789920" y="3465576"/>
            <a:ext cx="868680" cy="365760"/>
          </a:xfrm>
          <a:prstGeom prst="rect">
            <a:avLst/>
          </a:prstGeom>
          <a:noFill/>
          <a:ln/>
        </p:spPr>
        <p:txBody>
          <a:bodyPr wrap="square" rtlCol="0" anchor="ctr"/>
          <a:lstStyle/>
          <a:p>
            <a:pPr marL="0" indent="0">
              <a:buNone/>
            </a:pPr>
            <a:r>
              <a:rPr lang="en-US" sz="950" dirty="0">
                <a:solidFill>
                  <a:srgbClr val="6F4E37"/>
                </a:solidFill>
                <a:latin typeface="Calibri" pitchFamily="34" charset="0"/>
                <a:ea typeface="Calibri" pitchFamily="34" charset="-122"/>
                <a:cs typeface="Calibri" pitchFamily="34" charset="-120"/>
              </a:rPr>
              <a:t>4.48</a:t>
            </a:r>
            <a:endParaRPr lang="en-US" sz="950" dirty="0"/>
          </a:p>
        </p:txBody>
      </p:sp>
      <p:sp>
        <p:nvSpPr>
          <p:cNvPr id="24" name="Text 21"/>
          <p:cNvSpPr/>
          <p:nvPr/>
        </p:nvSpPr>
        <p:spPr>
          <a:xfrm>
            <a:off x="7269480" y="3849624"/>
            <a:ext cx="1737360" cy="365760"/>
          </a:xfrm>
          <a:prstGeom prst="rect">
            <a:avLst/>
          </a:prstGeom>
          <a:noFill/>
          <a:ln/>
        </p:spPr>
        <p:txBody>
          <a:bodyPr wrap="square" rtlCol="0" anchor="ctr"/>
          <a:lstStyle/>
          <a:p>
            <a:pPr marL="0" indent="0">
              <a:buNone/>
            </a:pPr>
            <a:r>
              <a:rPr lang="en-US" sz="950" b="1" dirty="0">
                <a:solidFill>
                  <a:srgbClr val="2A1D17"/>
                </a:solidFill>
                <a:latin typeface="Calibri" pitchFamily="34" charset="0"/>
                <a:ea typeface="Calibri" pitchFamily="34" charset="-122"/>
                <a:cs typeface="Calibri" pitchFamily="34" charset="-120"/>
              </a:rPr>
              <a:t>Top seller</a:t>
            </a:r>
            <a:endParaRPr lang="en-US" sz="950" dirty="0"/>
          </a:p>
        </p:txBody>
      </p:sp>
      <p:sp>
        <p:nvSpPr>
          <p:cNvPr id="25" name="Text 22"/>
          <p:cNvSpPr/>
          <p:nvPr/>
        </p:nvSpPr>
        <p:spPr>
          <a:xfrm>
            <a:off x="9052560" y="3849624"/>
            <a:ext cx="868680" cy="365760"/>
          </a:xfrm>
          <a:prstGeom prst="rect">
            <a:avLst/>
          </a:prstGeom>
          <a:noFill/>
          <a:ln/>
        </p:spPr>
        <p:txBody>
          <a:bodyPr wrap="square" rtlCol="0" anchor="ctr"/>
          <a:lstStyle/>
          <a:p>
            <a:pPr marL="0" indent="0">
              <a:buNone/>
            </a:pPr>
            <a:r>
              <a:rPr lang="en-US" sz="950" dirty="0">
                <a:solidFill>
                  <a:srgbClr val="6F4E37"/>
                </a:solidFill>
                <a:latin typeface="Calibri" pitchFamily="34" charset="0"/>
                <a:ea typeface="Calibri" pitchFamily="34" charset="-122"/>
                <a:cs typeface="Calibri" pitchFamily="34" charset="-120"/>
              </a:rPr>
              <a:t>Cold Brew</a:t>
            </a:r>
            <a:endParaRPr lang="en-US" sz="950" dirty="0"/>
          </a:p>
        </p:txBody>
      </p:sp>
      <p:sp>
        <p:nvSpPr>
          <p:cNvPr id="26" name="Text 23"/>
          <p:cNvSpPr/>
          <p:nvPr/>
        </p:nvSpPr>
        <p:spPr>
          <a:xfrm>
            <a:off x="9921240" y="3849624"/>
            <a:ext cx="868680" cy="365760"/>
          </a:xfrm>
          <a:prstGeom prst="rect">
            <a:avLst/>
          </a:prstGeom>
          <a:noFill/>
          <a:ln/>
        </p:spPr>
        <p:txBody>
          <a:bodyPr wrap="square" rtlCol="0" anchor="ctr"/>
          <a:lstStyle/>
          <a:p>
            <a:pPr marL="0" indent="0">
              <a:buNone/>
            </a:pPr>
            <a:r>
              <a:rPr lang="en-US" sz="950" dirty="0">
                <a:solidFill>
                  <a:srgbClr val="6F4E37"/>
                </a:solidFill>
                <a:latin typeface="Calibri" pitchFamily="34" charset="0"/>
                <a:ea typeface="Calibri" pitchFamily="34" charset="-122"/>
                <a:cs typeface="Calibri" pitchFamily="34" charset="-120"/>
              </a:rPr>
              <a:t>Cold Brew</a:t>
            </a:r>
            <a:endParaRPr lang="en-US" sz="950" dirty="0"/>
          </a:p>
        </p:txBody>
      </p:sp>
      <p:sp>
        <p:nvSpPr>
          <p:cNvPr id="27" name="Text 24"/>
          <p:cNvSpPr/>
          <p:nvPr/>
        </p:nvSpPr>
        <p:spPr>
          <a:xfrm>
            <a:off x="10789920" y="3849624"/>
            <a:ext cx="868680" cy="365760"/>
          </a:xfrm>
          <a:prstGeom prst="rect">
            <a:avLst/>
          </a:prstGeom>
          <a:noFill/>
          <a:ln/>
        </p:spPr>
        <p:txBody>
          <a:bodyPr wrap="square" rtlCol="0" anchor="ctr"/>
          <a:lstStyle/>
          <a:p>
            <a:pPr marL="0" indent="0">
              <a:buNone/>
            </a:pPr>
            <a:r>
              <a:rPr lang="en-US" sz="950" dirty="0">
                <a:solidFill>
                  <a:srgbClr val="6F4E37"/>
                </a:solidFill>
                <a:latin typeface="Calibri" pitchFamily="34" charset="0"/>
                <a:ea typeface="Calibri" pitchFamily="34" charset="-122"/>
                <a:cs typeface="Calibri" pitchFamily="34" charset="-120"/>
              </a:rPr>
              <a:t>Cold Brew</a:t>
            </a:r>
            <a:endParaRPr lang="en-US" sz="950" dirty="0"/>
          </a:p>
        </p:txBody>
      </p:sp>
      <p:sp>
        <p:nvSpPr>
          <p:cNvPr id="28" name="Shape 25"/>
          <p:cNvSpPr/>
          <p:nvPr/>
        </p:nvSpPr>
        <p:spPr>
          <a:xfrm>
            <a:off x="7269480" y="4279392"/>
            <a:ext cx="4160520" cy="0"/>
          </a:xfrm>
          <a:prstGeom prst="line">
            <a:avLst/>
          </a:prstGeom>
          <a:noFill/>
          <a:ln w="12700">
            <a:solidFill>
              <a:srgbClr val="E4D5C3"/>
            </a:solidFill>
            <a:prstDash val="solid"/>
          </a:ln>
        </p:spPr>
        <p:txBody>
          <a:bodyPr/>
          <a:lstStyle/>
          <a:p>
            <a:endParaRPr lang="en-GB"/>
          </a:p>
        </p:txBody>
      </p:sp>
      <p:sp>
        <p:nvSpPr>
          <p:cNvPr id="29" name="Text 26"/>
          <p:cNvSpPr/>
          <p:nvPr/>
        </p:nvSpPr>
        <p:spPr>
          <a:xfrm>
            <a:off x="7269480" y="4462272"/>
            <a:ext cx="4160520" cy="1005840"/>
          </a:xfrm>
          <a:prstGeom prst="rect">
            <a:avLst/>
          </a:prstGeom>
          <a:noFill/>
          <a:ln/>
        </p:spPr>
        <p:txBody>
          <a:bodyPr wrap="square" rtlCol="0" anchor="ctr"/>
          <a:lstStyle/>
          <a:p>
            <a:pPr marL="0" indent="0">
              <a:lnSpc>
                <a:spcPts val="1300"/>
              </a:lnSpc>
              <a:buNone/>
            </a:pPr>
            <a:r>
              <a:rPr lang="en-US" sz="1000" i="1" dirty="0">
                <a:solidFill>
                  <a:srgbClr val="8A7B6C"/>
                </a:solidFill>
                <a:latin typeface="Calibri" pitchFamily="34" charset="0"/>
                <a:ea typeface="Calibri" pitchFamily="34" charset="-122"/>
                <a:cs typeface="Calibri" pitchFamily="34" charset="-120"/>
              </a:rPr>
              <a:t>All three cities post customer ratings well above the company-wide average of 3.99/5 — a strong signal of brand fit and readiness for a physical store.</a:t>
            </a:r>
            <a:endParaRPr lang="en-US" sz="1000" dirty="0"/>
          </a:p>
        </p:txBody>
      </p:sp>
      <p:sp>
        <p:nvSpPr>
          <p:cNvPr id="30" name="Text 27"/>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8A7B6C"/>
                </a:solidFill>
                <a:latin typeface="Calibri" pitchFamily="34" charset="0"/>
                <a:ea typeface="Calibri" pitchFamily="34" charset="-122"/>
                <a:cs typeface="Calibri" pitchFamily="34" charset="-120"/>
              </a:rPr>
              <a:t>Business Expansion Report  |  Coffee Shop Market Analysis</a:t>
            </a:r>
            <a:endParaRPr lang="en-US" sz="900" dirty="0"/>
          </a:p>
        </p:txBody>
      </p:sp>
      <p:sp>
        <p:nvSpPr>
          <p:cNvPr id="31" name="Text 2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8A7B6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C2A21"/>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Business Impact</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987552"/>
            <a:ext cx="11091672"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D8C9B8"/>
                </a:solidFill>
                <a:effectLst/>
                <a:uLnTx/>
                <a:uFillTx/>
                <a:latin typeface="Calibri" pitchFamily="34" charset="0"/>
                <a:ea typeface="Calibri" pitchFamily="34" charset="-122"/>
                <a:cs typeface="Calibri" pitchFamily="34" charset="-120"/>
              </a:rPr>
              <a:t>What opening in Pune, Chennai and Bangalore is expected to deliver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48640" y="1691640"/>
            <a:ext cx="11064240" cy="713232"/>
          </a:xfrm>
          <a:prstGeom prst="roundRect">
            <a:avLst>
              <a:gd name="adj" fmla="val 8974"/>
            </a:avLst>
          </a:prstGeom>
          <a:solidFill>
            <a:srgbClr val="4A362B"/>
          </a:solidFill>
          <a:ln/>
        </p:spPr>
        <p:txBody>
          <a:bodyPr/>
          <a:lstStyle/>
          <a:p>
            <a:endParaRPr lang="en-GB"/>
          </a:p>
        </p:txBody>
      </p:sp>
      <p:sp>
        <p:nvSpPr>
          <p:cNvPr id="5" name="Shape 3"/>
          <p:cNvSpPr/>
          <p:nvPr/>
        </p:nvSpPr>
        <p:spPr>
          <a:xfrm>
            <a:off x="713232" y="1828800"/>
            <a:ext cx="438912" cy="438912"/>
          </a:xfrm>
          <a:prstGeom prst="ellipse">
            <a:avLst/>
          </a:prstGeom>
          <a:solidFill>
            <a:srgbClr val="C08552"/>
          </a:solidFill>
          <a:ln/>
        </p:spPr>
        <p:txBody>
          <a:bodyPr/>
          <a:lstStyle/>
          <a:p>
            <a:endParaRPr lang="en-GB"/>
          </a:p>
        </p:txBody>
      </p:sp>
      <p:sp>
        <p:nvSpPr>
          <p:cNvPr id="6" name="Text 4"/>
          <p:cNvSpPr/>
          <p:nvPr/>
        </p:nvSpPr>
        <p:spPr>
          <a:xfrm>
            <a:off x="713232" y="1828800"/>
            <a:ext cx="438912" cy="4389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371600" y="1691640"/>
            <a:ext cx="10058400" cy="7132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Increase overall revenue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548640" y="2569464"/>
            <a:ext cx="11064240" cy="713232"/>
          </a:xfrm>
          <a:prstGeom prst="roundRect">
            <a:avLst>
              <a:gd name="adj" fmla="val 8974"/>
            </a:avLst>
          </a:prstGeom>
          <a:solidFill>
            <a:srgbClr val="4A362B"/>
          </a:solidFill>
          <a:ln/>
        </p:spPr>
        <p:txBody>
          <a:bodyPr/>
          <a:lstStyle/>
          <a:p>
            <a:endParaRPr lang="en-GB"/>
          </a:p>
        </p:txBody>
      </p:sp>
      <p:sp>
        <p:nvSpPr>
          <p:cNvPr id="9" name="Shape 7"/>
          <p:cNvSpPr/>
          <p:nvPr/>
        </p:nvSpPr>
        <p:spPr>
          <a:xfrm>
            <a:off x="713232" y="2706624"/>
            <a:ext cx="438912" cy="438912"/>
          </a:xfrm>
          <a:prstGeom prst="ellipse">
            <a:avLst/>
          </a:prstGeom>
          <a:solidFill>
            <a:srgbClr val="C08552"/>
          </a:solidFill>
          <a:ln/>
        </p:spPr>
        <p:txBody>
          <a:bodyPr/>
          <a:lstStyle/>
          <a:p>
            <a:endParaRPr lang="en-GB"/>
          </a:p>
        </p:txBody>
      </p:sp>
      <p:sp>
        <p:nvSpPr>
          <p:cNvPr id="10" name="Text 8"/>
          <p:cNvSpPr/>
          <p:nvPr/>
        </p:nvSpPr>
        <p:spPr>
          <a:xfrm>
            <a:off x="713232" y="2706624"/>
            <a:ext cx="438912" cy="4389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2</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371600" y="2569464"/>
            <a:ext cx="10058400" cy="7132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Strengthen the company's brand presence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548640" y="3447288"/>
            <a:ext cx="11064240" cy="713232"/>
          </a:xfrm>
          <a:prstGeom prst="roundRect">
            <a:avLst>
              <a:gd name="adj" fmla="val 8974"/>
            </a:avLst>
          </a:prstGeom>
          <a:solidFill>
            <a:srgbClr val="4A362B"/>
          </a:solidFill>
          <a:ln/>
        </p:spPr>
        <p:txBody>
          <a:bodyPr/>
          <a:lstStyle/>
          <a:p>
            <a:endParaRPr lang="en-GB"/>
          </a:p>
        </p:txBody>
      </p:sp>
      <p:sp>
        <p:nvSpPr>
          <p:cNvPr id="13" name="Shape 11"/>
          <p:cNvSpPr/>
          <p:nvPr/>
        </p:nvSpPr>
        <p:spPr>
          <a:xfrm>
            <a:off x="713232" y="3584448"/>
            <a:ext cx="438912" cy="438912"/>
          </a:xfrm>
          <a:prstGeom prst="ellipse">
            <a:avLst/>
          </a:prstGeom>
          <a:solidFill>
            <a:srgbClr val="C08552"/>
          </a:solidFill>
          <a:ln/>
        </p:spPr>
        <p:txBody>
          <a:bodyPr/>
          <a:lstStyle/>
          <a:p>
            <a:endParaRPr lang="en-GB"/>
          </a:p>
        </p:txBody>
      </p:sp>
      <p:sp>
        <p:nvSpPr>
          <p:cNvPr id="14" name="Text 12"/>
          <p:cNvSpPr/>
          <p:nvPr/>
        </p:nvSpPr>
        <p:spPr>
          <a:xfrm>
            <a:off x="713232" y="3584448"/>
            <a:ext cx="438912" cy="4389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371600" y="3447288"/>
            <a:ext cx="10058400" cy="7132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Improve customer experience through physical stores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48640" y="4325112"/>
            <a:ext cx="11064240" cy="713232"/>
          </a:xfrm>
          <a:prstGeom prst="roundRect">
            <a:avLst>
              <a:gd name="adj" fmla="val 8974"/>
            </a:avLst>
          </a:prstGeom>
          <a:solidFill>
            <a:srgbClr val="4A362B"/>
          </a:solidFill>
          <a:ln/>
        </p:spPr>
        <p:txBody>
          <a:bodyPr/>
          <a:lstStyle/>
          <a:p>
            <a:endParaRPr lang="en-GB"/>
          </a:p>
        </p:txBody>
      </p:sp>
      <p:sp>
        <p:nvSpPr>
          <p:cNvPr id="17" name="Shape 15"/>
          <p:cNvSpPr/>
          <p:nvPr/>
        </p:nvSpPr>
        <p:spPr>
          <a:xfrm>
            <a:off x="713232" y="4462272"/>
            <a:ext cx="438912" cy="438912"/>
          </a:xfrm>
          <a:prstGeom prst="ellipse">
            <a:avLst/>
          </a:prstGeom>
          <a:solidFill>
            <a:srgbClr val="C08552"/>
          </a:solidFill>
          <a:ln/>
        </p:spPr>
        <p:txBody>
          <a:bodyPr/>
          <a:lstStyle/>
          <a:p>
            <a:endParaRPr lang="en-GB"/>
          </a:p>
        </p:txBody>
      </p:sp>
      <p:sp>
        <p:nvSpPr>
          <p:cNvPr id="18" name="Text 16"/>
          <p:cNvSpPr/>
          <p:nvPr/>
        </p:nvSpPr>
        <p:spPr>
          <a:xfrm>
            <a:off x="713232" y="4462272"/>
            <a:ext cx="438912" cy="4389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4</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371600" y="4325112"/>
            <a:ext cx="10058400" cy="7132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Reduce delivery times and logistics costs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548640" y="5202936"/>
            <a:ext cx="11064240" cy="713232"/>
          </a:xfrm>
          <a:prstGeom prst="roundRect">
            <a:avLst>
              <a:gd name="adj" fmla="val 8974"/>
            </a:avLst>
          </a:prstGeom>
          <a:solidFill>
            <a:srgbClr val="4A362B"/>
          </a:solidFill>
          <a:ln/>
        </p:spPr>
        <p:txBody>
          <a:bodyPr/>
          <a:lstStyle/>
          <a:p>
            <a:endParaRPr lang="en-GB"/>
          </a:p>
        </p:txBody>
      </p:sp>
      <p:sp>
        <p:nvSpPr>
          <p:cNvPr id="21" name="Shape 19"/>
          <p:cNvSpPr/>
          <p:nvPr/>
        </p:nvSpPr>
        <p:spPr>
          <a:xfrm>
            <a:off x="713232" y="5340096"/>
            <a:ext cx="438912" cy="438912"/>
          </a:xfrm>
          <a:prstGeom prst="ellipse">
            <a:avLst/>
          </a:prstGeom>
          <a:solidFill>
            <a:srgbClr val="C08552"/>
          </a:solidFill>
          <a:ln/>
        </p:spPr>
        <p:txBody>
          <a:bodyPr/>
          <a:lstStyle/>
          <a:p>
            <a:endParaRPr lang="en-GB"/>
          </a:p>
        </p:txBody>
      </p:sp>
      <p:sp>
        <p:nvSpPr>
          <p:cNvPr id="22" name="Text 20"/>
          <p:cNvSpPr/>
          <p:nvPr/>
        </p:nvSpPr>
        <p:spPr>
          <a:xfrm>
            <a:off x="713232" y="5340096"/>
            <a:ext cx="438912" cy="4389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5</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1371600" y="5202936"/>
            <a:ext cx="10058400" cy="7132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Support long-term business growth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457200" y="6473952"/>
            <a:ext cx="73152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9B8A8"/>
                </a:solidFill>
                <a:effectLst/>
                <a:uLnTx/>
                <a:uFillTx/>
                <a:latin typeface="Calibri" pitchFamily="34" charset="0"/>
                <a:ea typeface="Calibri" pitchFamily="34" charset="-122"/>
                <a:cs typeface="Calibri" pitchFamily="34" charset="-120"/>
              </a:rPr>
              <a:t>Business Expansion Report  |  Coffee Shop Market Analysis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11274552" y="6473952"/>
            <a:ext cx="4572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9B8A8"/>
                </a:solidFill>
                <a:effectLst/>
                <a:uLnTx/>
                <a:uFillTx/>
                <a:latin typeface="Calibri" pitchFamily="34" charset="0"/>
                <a:ea typeface="Calibri" pitchFamily="34" charset="-122"/>
                <a:cs typeface="Calibri" pitchFamily="34" charset="-120"/>
              </a:rPr>
              <a:t>8</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C2A21"/>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6F4E37">
              <a:alpha val="45000"/>
            </a:srgbClr>
          </a:solidFill>
          <a:ln/>
        </p:spPr>
        <p:txBody>
          <a:bodyPr/>
          <a:lstStyle/>
          <a:p>
            <a:endParaRPr lang="en-GB"/>
          </a:p>
        </p:txBody>
      </p:sp>
      <p:sp>
        <p:nvSpPr>
          <p:cNvPr id="3" name="Shape 1"/>
          <p:cNvSpPr/>
          <p:nvPr/>
        </p:nvSpPr>
        <p:spPr>
          <a:xfrm>
            <a:off x="9875520" y="4572000"/>
            <a:ext cx="3200400" cy="3200400"/>
          </a:xfrm>
          <a:prstGeom prst="ellipse">
            <a:avLst/>
          </a:prstGeom>
          <a:solidFill>
            <a:srgbClr val="C08552">
              <a:alpha val="30000"/>
            </a:srgbClr>
          </a:solidFill>
          <a:ln/>
        </p:spPr>
        <p:txBody>
          <a:bodyPr/>
          <a:lstStyle/>
          <a:p>
            <a:endParaRPr lang="en-GB"/>
          </a:p>
        </p:txBody>
      </p:sp>
      <p:sp>
        <p:nvSpPr>
          <p:cNvPr id="4" name="Text 2"/>
          <p:cNvSpPr/>
          <p:nvPr/>
        </p:nvSpPr>
        <p:spPr>
          <a:xfrm>
            <a:off x="822960" y="1280160"/>
            <a:ext cx="91440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Conclusion</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22960" y="2103120"/>
            <a:ext cx="8961120" cy="1097280"/>
          </a:xfrm>
          <a:prstGeom prst="rect">
            <a:avLst/>
          </a:prstGeom>
          <a:noFill/>
          <a:ln/>
        </p:spPr>
        <p:txBody>
          <a:bodyPr wrap="square" rtlCol="0" anchor="ct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D8C9B8"/>
                </a:solidFill>
                <a:effectLst/>
                <a:uLnTx/>
                <a:uFillTx/>
                <a:latin typeface="Calibri" pitchFamily="34" charset="0"/>
                <a:ea typeface="Calibri" pitchFamily="34" charset="-122"/>
                <a:cs typeface="Calibri" pitchFamily="34" charset="-120"/>
              </a:rPr>
              <a:t>The sales analysis points clearly to Pune, Chennai and Bangalore as the strongest opportunities for expansion. Investing in these locations lets the company build on existing customer demand while increasing profitability and market presence.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822960" y="3246120"/>
            <a:ext cx="8961120" cy="731520"/>
          </a:xfrm>
          <a:prstGeom prst="rect">
            <a:avLst/>
          </a:prstGeom>
          <a:noFill/>
          <a:ln/>
        </p:spPr>
        <p:txBody>
          <a:bodyPr wrap="square" rtlCol="0" anchor="ctr"/>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C08552"/>
                </a:solidFill>
                <a:effectLst/>
                <a:uLnTx/>
                <a:uFillTx/>
                <a:latin typeface="Calibri" pitchFamily="34" charset="0"/>
                <a:ea typeface="Calibri" pitchFamily="34" charset="-122"/>
                <a:cs typeface="Calibri" pitchFamily="34" charset="-120"/>
              </a:rPr>
              <a:t>These recommendations are data-driven and aligned with the company's objective of sustainable, long-term growth.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822960" y="4160520"/>
            <a:ext cx="1828800" cy="0"/>
          </a:xfrm>
          <a:prstGeom prst="line">
            <a:avLst/>
          </a:prstGeom>
          <a:noFill/>
          <a:ln w="25400">
            <a:solidFill>
              <a:srgbClr val="C08552"/>
            </a:solidFill>
            <a:prstDash val="solid"/>
          </a:ln>
        </p:spPr>
        <p:txBody>
          <a:bodyPr/>
          <a:lstStyle/>
          <a:p>
            <a:endParaRPr lang="en-GB"/>
          </a:p>
        </p:txBody>
      </p:sp>
      <p:sp>
        <p:nvSpPr>
          <p:cNvPr id="8" name="Text 6"/>
          <p:cNvSpPr/>
          <p:nvPr/>
        </p:nvSpPr>
        <p:spPr>
          <a:xfrm>
            <a:off x="822960" y="4389120"/>
            <a:ext cx="54864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8552"/>
                </a:solidFill>
                <a:effectLst/>
                <a:uLnTx/>
                <a:uFillTx/>
                <a:latin typeface="Cambria" pitchFamily="34" charset="0"/>
                <a:ea typeface="Cambria" pitchFamily="34" charset="-122"/>
                <a:cs typeface="Cambria" pitchFamily="34" charset="-120"/>
              </a:rPr>
              <a:t>Thank you</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822960" y="493776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8C9B8"/>
                </a:solidFill>
                <a:effectLst/>
                <a:uLnTx/>
                <a:uFillTx/>
                <a:latin typeface="Calibri" pitchFamily="34" charset="0"/>
                <a:ea typeface="Calibri" pitchFamily="34" charset="-122"/>
                <a:cs typeface="Calibri" pitchFamily="34" charset="-120"/>
              </a:rPr>
              <a:t>Prepared by: Data Analyst  |  Mahshooma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fa4170-0d19-0005-0004-bc88714345d2}" enabled="1" method="Standard" siteId="{4468c733-0a83-4c32-acfd-edff31982166}" contentBits="0" removed="0"/>
</clbl:labelList>
</file>

<file path=docProps/app.xml><?xml version="1.0" encoding="utf-8"?>
<Properties xmlns="http://schemas.openxmlformats.org/officeDocument/2006/extended-properties" xmlns:vt="http://schemas.openxmlformats.org/officeDocument/2006/docPropsVTypes">
  <TotalTime>481</TotalTime>
  <Words>598</Words>
  <Application>Microsoft Office PowerPoint</Application>
  <PresentationFormat>Widescreen</PresentationFormat>
  <Paragraphs>116</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Calibri</vt:lpstr>
      <vt:lpstr>Cambria</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Analytics Students</dc:creator>
  <cp:lastModifiedBy>Analytics Students</cp:lastModifiedBy>
  <cp:revision>1</cp:revision>
  <dcterms:created xsi:type="dcterms:W3CDTF">2026-07-20T07:00:10Z</dcterms:created>
  <dcterms:modified xsi:type="dcterms:W3CDTF">2026-07-20T15:02:00Z</dcterms:modified>
</cp:coreProperties>
</file>